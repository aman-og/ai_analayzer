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5865" y="2998833"/>
            <a:ext cx="2003828" cy="348760"/>
          </a:xfrm>
          <a:custGeom>
            <a:avLst/>
            <a:gdLst/>
            <a:ahLst/>
            <a:cxnLst/>
            <a:rect l="l" t="t" r="r" b="b"/>
            <a:pathLst>
              <a:path w="2003828" h="348760">
                <a:moveTo>
                  <a:pt x="174380" y="0"/>
                </a:moveTo>
                <a:moveTo>
                  <a:pt x="174380" y="0"/>
                </a:moveTo>
                <a:lnTo>
                  <a:pt x="1829448" y="0"/>
                </a:lnTo>
                <a:quadBezTo>
                  <a:pt x="2003828" y="0"/>
                  <a:pt x="2003828" y="174380"/>
                </a:quadBezTo>
                <a:lnTo>
                  <a:pt x="2003828" y="174380"/>
                </a:lnTo>
                <a:quadBezTo>
                  <a:pt x="2003828" y="348760"/>
                  <a:pt x="1829448" y="348760"/>
                </a:quadBezTo>
                <a:lnTo>
                  <a:pt x="174380" y="348760"/>
                </a:lnTo>
                <a:quadBezTo>
                  <a:pt x="0" y="348760"/>
                  <a:pt x="0" y="174380"/>
                </a:quadBezTo>
                <a:lnTo>
                  <a:pt x="0" y="174380"/>
                </a:lnTo>
                <a:quadBezTo>
                  <a:pt x="0" y="0"/>
                  <a:pt x="174380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9525">
            <a:solidFill>
              <a:srgbClr val="EDC3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9551" y="1514481"/>
            <a:ext cx="7163495" cy="70763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spc="72" kern="0" dirty="0">
                <a:solidFill>
                  <a:srgbClr val="EED7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Resume Analyzer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775865" y="2926969"/>
            <a:ext cx="200382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EDC39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Aman Baye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775865" y="2293684"/>
            <a:ext cx="5506272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spc="72" kern="0" dirty="0">
                <a:solidFill>
                  <a:srgbClr val="EDC39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Candidate Screening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73" y="176386"/>
            <a:ext cx="8240836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Resume Analyzer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63" y="2227705"/>
            <a:ext cx="7469675" cy="114894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24665" y="319376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9B6047"/>
          </a:solidFill>
          <a:ln w="19050">
            <a:solidFill>
              <a:srgbClr val="E1E1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73141" y="3394978"/>
            <a:ext cx="28926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3370620" y="295600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9B6047"/>
          </a:solidFill>
          <a:ln w="19050">
            <a:solidFill>
              <a:srgbClr val="E1E1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19096" y="3157213"/>
            <a:ext cx="28926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8" name="Shape 5"/>
          <p:cNvSpPr/>
          <p:nvPr/>
        </p:nvSpPr>
        <p:spPr>
          <a:xfrm>
            <a:off x="5518209" y="224599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9B6047"/>
          </a:solidFill>
          <a:ln w="19050">
            <a:solidFill>
              <a:srgbClr val="E1E1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66685" y="2447205"/>
            <a:ext cx="28926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0" name="Shape 7"/>
          <p:cNvSpPr/>
          <p:nvPr/>
        </p:nvSpPr>
        <p:spPr>
          <a:xfrm>
            <a:off x="7689252" y="238903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9B6047"/>
          </a:solidFill>
          <a:ln w="19050">
            <a:solidFill>
              <a:srgbClr val="E1E1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7728" y="2590242"/>
            <a:ext cx="28926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273820" y="1114401"/>
            <a:ext cx="199196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Contact Info.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2466078" y="815873"/>
            <a:ext cx="1991962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Architecture.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2466078" y="1368169"/>
            <a:ext cx="199196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React frontend, Node/TypeScript backend, MongoDB and Supabase for data and auth.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4650244" y="2899331"/>
            <a:ext cx="199196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Features.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4650244" y="3451627"/>
            <a:ext cx="199196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extraction accuracy, candidate scoring, PII redaction, side-by-side comparisons.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6912727" y="3047442"/>
            <a:ext cx="199196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Workflow Steps.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6912727" y="3599738"/>
            <a:ext cx="199196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Upload → Supabase auth → Groq parsing → Store → Dashboard ranking.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273820" y="1666698"/>
            <a:ext cx="199196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Aman Baye — IE Network Solutions; GitHub Aman-OG/AI_Analyzer.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73" y="176386"/>
            <a:ext cx="8240836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Upload and Parse Workflow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489857" y="1001727"/>
            <a:ext cx="8164286" cy="0"/>
          </a:xfrm>
          <a:custGeom>
            <a:avLst/>
            <a:gdLst/>
            <a:ahLst/>
            <a:cxnLst/>
            <a:rect l="l" t="t" r="r" b="b"/>
            <a:pathLst>
              <a:path w="8164286" h="0">
                <a:moveTo>
                  <a:pt x="0" y="0"/>
                </a:moveTo>
                <a:moveTo>
                  <a:pt x="0" y="0"/>
                </a:moveTo>
                <a:lnTo>
                  <a:pt x="8164286" y="0"/>
                </a:lnTo>
              </a:path>
            </a:pathLst>
          </a:custGeom>
          <a:noFill/>
          <a:ln w="19050">
            <a:solidFill>
              <a:srgbClr val="9B6047"/>
            </a:solidFill>
            <a:prstDash val="solid"/>
            <a:headEnd type="none"/>
            <a:tailEnd type="none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416" y="768754"/>
            <a:ext cx="1301272" cy="53909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86" y="1366180"/>
            <a:ext cx="1917542" cy="318905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28470" y="4041909"/>
            <a:ext cx="838796" cy="313151"/>
          </a:xfrm>
          <a:custGeom>
            <a:avLst/>
            <a:gdLst/>
            <a:ahLst/>
            <a:cxnLst/>
            <a:rect l="l" t="t" r="r" b="b"/>
            <a:pathLst>
              <a:path w="838796" h="313151">
                <a:moveTo>
                  <a:pt x="156575" y="0"/>
                </a:moveTo>
                <a:moveTo>
                  <a:pt x="156575" y="0"/>
                </a:moveTo>
                <a:lnTo>
                  <a:pt x="682221" y="0"/>
                </a:lnTo>
                <a:quadBezTo>
                  <a:pt x="838796" y="0"/>
                  <a:pt x="838796" y="156575"/>
                </a:quadBezTo>
                <a:lnTo>
                  <a:pt x="838796" y="156575"/>
                </a:lnTo>
                <a:quadBezTo>
                  <a:pt x="838796" y="313151"/>
                  <a:pt x="682221" y="313151"/>
                </a:quadBezTo>
                <a:lnTo>
                  <a:pt x="156575" y="313151"/>
                </a:lnTo>
                <a:quadBezTo>
                  <a:pt x="0" y="313151"/>
                  <a:pt x="0" y="156575"/>
                </a:quadBezTo>
                <a:lnTo>
                  <a:pt x="0" y="156575"/>
                </a:lnTo>
                <a:quadBezTo>
                  <a:pt x="0" y="0"/>
                  <a:pt x="156575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7" name="Text 3"/>
          <p:cNvSpPr/>
          <p:nvPr/>
        </p:nvSpPr>
        <p:spPr>
          <a:xfrm>
            <a:off x="625092" y="3942452"/>
            <a:ext cx="645553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8" name="Shape 4"/>
          <p:cNvSpPr/>
          <p:nvPr/>
        </p:nvSpPr>
        <p:spPr>
          <a:xfrm>
            <a:off x="574311" y="2295077"/>
            <a:ext cx="1800616" cy="0"/>
          </a:xfrm>
          <a:custGeom>
            <a:avLst/>
            <a:gdLst/>
            <a:ahLst/>
            <a:cxnLst/>
            <a:rect l="l" t="t" r="r" b="b"/>
            <a:pathLst>
              <a:path w="1800616" h="0">
                <a:moveTo>
                  <a:pt x="0" y="0"/>
                </a:moveTo>
                <a:moveTo>
                  <a:pt x="0" y="0"/>
                </a:moveTo>
                <a:lnTo>
                  <a:pt x="1800616" y="0"/>
                </a:lnTo>
              </a:path>
            </a:pathLst>
          </a:custGeom>
          <a:noFill/>
          <a:ln w="9525">
            <a:solidFill>
              <a:srgbClr val="9B6047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2561282" y="1366180"/>
            <a:ext cx="1917542" cy="3189051"/>
          </a:xfrm>
          <a:custGeom>
            <a:avLst/>
            <a:gdLst/>
            <a:ahLst/>
            <a:cxnLst/>
            <a:rect l="l" t="t" r="r" b="b"/>
            <a:pathLst>
              <a:path w="1917542" h="3189051">
                <a:moveTo>
                  <a:pt x="137206" y="0"/>
                </a:moveTo>
                <a:moveTo>
                  <a:pt x="137206" y="0"/>
                </a:moveTo>
                <a:lnTo>
                  <a:pt x="1780335" y="0"/>
                </a:lnTo>
                <a:quadBezTo>
                  <a:pt x="1917542" y="0"/>
                  <a:pt x="1917542" y="153991"/>
                </a:quadBezTo>
                <a:lnTo>
                  <a:pt x="1917542" y="3035060"/>
                </a:lnTo>
                <a:quadBezTo>
                  <a:pt x="1917542" y="3189051"/>
                  <a:pt x="1780335" y="3189051"/>
                </a:quadBezTo>
                <a:lnTo>
                  <a:pt x="137206" y="3189051"/>
                </a:lnTo>
                <a:quadBezTo>
                  <a:pt x="0" y="3189051"/>
                  <a:pt x="0" y="3035060"/>
                </a:quadBezTo>
                <a:lnTo>
                  <a:pt x="0" y="153991"/>
                </a:lnTo>
                <a:quadBezTo>
                  <a:pt x="0" y="0"/>
                  <a:pt x="137206" y="0"/>
                </a:quadBezTo>
                <a:close/>
              </a:path>
            </a:pathLst>
          </a:custGeom>
          <a:solidFill>
            <a:srgbClr val="9B6047"/>
          </a:solidFill>
          <a:ln w="9525">
            <a:solidFill>
              <a:srgbClr val="9B6047">
                <a:alpha val="45882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632365" y="4041909"/>
            <a:ext cx="838796" cy="313151"/>
          </a:xfrm>
          <a:custGeom>
            <a:avLst/>
            <a:gdLst/>
            <a:ahLst/>
            <a:cxnLst/>
            <a:rect l="l" t="t" r="r" b="b"/>
            <a:pathLst>
              <a:path w="838796" h="313151">
                <a:moveTo>
                  <a:pt x="156575" y="0"/>
                </a:moveTo>
                <a:moveTo>
                  <a:pt x="156575" y="0"/>
                </a:moveTo>
                <a:lnTo>
                  <a:pt x="682221" y="0"/>
                </a:lnTo>
                <a:quadBezTo>
                  <a:pt x="838796" y="0"/>
                  <a:pt x="838796" y="156575"/>
                </a:quadBezTo>
                <a:lnTo>
                  <a:pt x="838796" y="156575"/>
                </a:lnTo>
                <a:quadBezTo>
                  <a:pt x="838796" y="313151"/>
                  <a:pt x="682221" y="313151"/>
                </a:quadBezTo>
                <a:lnTo>
                  <a:pt x="156575" y="313151"/>
                </a:lnTo>
                <a:quadBezTo>
                  <a:pt x="0" y="313151"/>
                  <a:pt x="0" y="156575"/>
                </a:quadBezTo>
                <a:lnTo>
                  <a:pt x="0" y="156575"/>
                </a:lnTo>
                <a:quadBezTo>
                  <a:pt x="0" y="0"/>
                  <a:pt x="156575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2728987" y="3942452"/>
            <a:ext cx="645553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2" name="Shape 8"/>
          <p:cNvSpPr/>
          <p:nvPr/>
        </p:nvSpPr>
        <p:spPr>
          <a:xfrm>
            <a:off x="2678207" y="2295077"/>
            <a:ext cx="1800616" cy="0"/>
          </a:xfrm>
          <a:custGeom>
            <a:avLst/>
            <a:gdLst/>
            <a:ahLst/>
            <a:cxnLst/>
            <a:rect l="l" t="t" r="r" b="b"/>
            <a:pathLst>
              <a:path w="1800616" h="0">
                <a:moveTo>
                  <a:pt x="0" y="0"/>
                </a:moveTo>
                <a:moveTo>
                  <a:pt x="0" y="0"/>
                </a:moveTo>
                <a:lnTo>
                  <a:pt x="1800616" y="0"/>
                </a:lnTo>
              </a:path>
            </a:pathLst>
          </a:custGeom>
          <a:noFill/>
          <a:ln w="9525">
            <a:solidFill>
              <a:srgbClr val="FFFFFF">
                <a:alpha val="29020"/>
              </a:srgbClr>
            </a:solidFill>
            <a:prstDash val="solid"/>
            <a:headEnd type="none"/>
            <a:tailEnd type="none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177" y="1366180"/>
            <a:ext cx="1917542" cy="318905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736261" y="4041909"/>
            <a:ext cx="838796" cy="313151"/>
          </a:xfrm>
          <a:custGeom>
            <a:avLst/>
            <a:gdLst/>
            <a:ahLst/>
            <a:cxnLst/>
            <a:rect l="l" t="t" r="r" b="b"/>
            <a:pathLst>
              <a:path w="838796" h="313151">
                <a:moveTo>
                  <a:pt x="156575" y="0"/>
                </a:moveTo>
                <a:moveTo>
                  <a:pt x="156575" y="0"/>
                </a:moveTo>
                <a:lnTo>
                  <a:pt x="682221" y="0"/>
                </a:lnTo>
                <a:quadBezTo>
                  <a:pt x="838796" y="0"/>
                  <a:pt x="838796" y="156575"/>
                </a:quadBezTo>
                <a:lnTo>
                  <a:pt x="838796" y="156575"/>
                </a:lnTo>
                <a:quadBezTo>
                  <a:pt x="838796" y="313151"/>
                  <a:pt x="682221" y="313151"/>
                </a:quadBezTo>
                <a:lnTo>
                  <a:pt x="156575" y="313151"/>
                </a:lnTo>
                <a:quadBezTo>
                  <a:pt x="0" y="313151"/>
                  <a:pt x="0" y="156575"/>
                </a:quadBezTo>
                <a:lnTo>
                  <a:pt x="0" y="156575"/>
                </a:lnTo>
                <a:quadBezTo>
                  <a:pt x="0" y="0"/>
                  <a:pt x="156575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15" name="Text 10"/>
          <p:cNvSpPr/>
          <p:nvPr/>
        </p:nvSpPr>
        <p:spPr>
          <a:xfrm>
            <a:off x="4832883" y="3942452"/>
            <a:ext cx="645553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6" name="Shape 11"/>
          <p:cNvSpPr/>
          <p:nvPr/>
        </p:nvSpPr>
        <p:spPr>
          <a:xfrm>
            <a:off x="4782102" y="2295077"/>
            <a:ext cx="1800616" cy="0"/>
          </a:xfrm>
          <a:custGeom>
            <a:avLst/>
            <a:gdLst/>
            <a:ahLst/>
            <a:cxnLst/>
            <a:rect l="l" t="t" r="r" b="b"/>
            <a:pathLst>
              <a:path w="1800616" h="0">
                <a:moveTo>
                  <a:pt x="0" y="0"/>
                </a:moveTo>
                <a:moveTo>
                  <a:pt x="0" y="0"/>
                </a:moveTo>
                <a:lnTo>
                  <a:pt x="1800616" y="0"/>
                </a:lnTo>
              </a:path>
            </a:pathLst>
          </a:custGeom>
          <a:noFill/>
          <a:ln w="9525">
            <a:solidFill>
              <a:srgbClr val="9B6047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9072" y="1366180"/>
            <a:ext cx="1917542" cy="3189051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840156" y="4041909"/>
            <a:ext cx="838796" cy="313151"/>
          </a:xfrm>
          <a:custGeom>
            <a:avLst/>
            <a:gdLst/>
            <a:ahLst/>
            <a:cxnLst/>
            <a:rect l="l" t="t" r="r" b="b"/>
            <a:pathLst>
              <a:path w="838796" h="313151">
                <a:moveTo>
                  <a:pt x="156575" y="0"/>
                </a:moveTo>
                <a:moveTo>
                  <a:pt x="156575" y="0"/>
                </a:moveTo>
                <a:lnTo>
                  <a:pt x="682221" y="0"/>
                </a:lnTo>
                <a:quadBezTo>
                  <a:pt x="838796" y="0"/>
                  <a:pt x="838796" y="156575"/>
                </a:quadBezTo>
                <a:lnTo>
                  <a:pt x="838796" y="156575"/>
                </a:lnTo>
                <a:quadBezTo>
                  <a:pt x="838796" y="313151"/>
                  <a:pt x="682221" y="313151"/>
                </a:quadBezTo>
                <a:lnTo>
                  <a:pt x="156575" y="313151"/>
                </a:lnTo>
                <a:quadBezTo>
                  <a:pt x="0" y="313151"/>
                  <a:pt x="0" y="156575"/>
                </a:quadBezTo>
                <a:lnTo>
                  <a:pt x="0" y="156575"/>
                </a:lnTo>
                <a:quadBezTo>
                  <a:pt x="0" y="0"/>
                  <a:pt x="156575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19" name="Text 13"/>
          <p:cNvSpPr/>
          <p:nvPr/>
        </p:nvSpPr>
        <p:spPr>
          <a:xfrm>
            <a:off x="6936778" y="3942452"/>
            <a:ext cx="645553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20" name="Shape 14"/>
          <p:cNvSpPr/>
          <p:nvPr/>
        </p:nvSpPr>
        <p:spPr>
          <a:xfrm>
            <a:off x="6885997" y="2295077"/>
            <a:ext cx="1800616" cy="0"/>
          </a:xfrm>
          <a:custGeom>
            <a:avLst/>
            <a:gdLst/>
            <a:ahLst/>
            <a:cxnLst/>
            <a:rect l="l" t="t" r="r" b="b"/>
            <a:pathLst>
              <a:path w="1800616" h="0">
                <a:moveTo>
                  <a:pt x="0" y="0"/>
                </a:moveTo>
                <a:moveTo>
                  <a:pt x="0" y="0"/>
                </a:moveTo>
                <a:lnTo>
                  <a:pt x="1800616" y="0"/>
                </a:lnTo>
              </a:path>
            </a:pathLst>
          </a:custGeom>
          <a:noFill/>
          <a:ln w="9525">
            <a:solidFill>
              <a:srgbClr val="9B6047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55517" y="1622847"/>
            <a:ext cx="1919411" cy="53472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Resume Upload.</a:t>
            </a:r>
            <a:endParaRPr lang="en-US" sz="1440" dirty="0"/>
          </a:p>
        </p:txBody>
      </p:sp>
      <p:sp>
        <p:nvSpPr>
          <p:cNvPr id="22" name="Text 16"/>
          <p:cNvSpPr/>
          <p:nvPr/>
        </p:nvSpPr>
        <p:spPr>
          <a:xfrm>
            <a:off x="457386" y="2294733"/>
            <a:ext cx="191754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Accept PDF/DOCX, start async processing for parsing and caching common resumes.</a:t>
            </a:r>
            <a:endParaRPr lang="en-US" sz="1440" dirty="0"/>
          </a:p>
        </p:txBody>
      </p:sp>
      <p:sp>
        <p:nvSpPr>
          <p:cNvPr id="23" name="Text 17"/>
          <p:cNvSpPr/>
          <p:nvPr/>
        </p:nvSpPr>
        <p:spPr>
          <a:xfrm>
            <a:off x="2561282" y="1622847"/>
            <a:ext cx="1917542" cy="53472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Authentication.</a:t>
            </a:r>
            <a:endParaRPr lang="en-US" sz="1440" dirty="0"/>
          </a:p>
        </p:txBody>
      </p:sp>
      <p:sp>
        <p:nvSpPr>
          <p:cNvPr id="24" name="Text 18"/>
          <p:cNvSpPr/>
          <p:nvPr/>
        </p:nvSpPr>
        <p:spPr>
          <a:xfrm>
            <a:off x="2561282" y="2294733"/>
            <a:ext cx="191754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Supabase auth secures uploads and manages user metadata and access control.</a:t>
            </a:r>
            <a:endParaRPr lang="en-US" sz="1440" dirty="0"/>
          </a:p>
        </p:txBody>
      </p:sp>
      <p:sp>
        <p:nvSpPr>
          <p:cNvPr id="25" name="Text 19"/>
          <p:cNvSpPr/>
          <p:nvPr/>
        </p:nvSpPr>
        <p:spPr>
          <a:xfrm>
            <a:off x="4665177" y="1622847"/>
            <a:ext cx="1917542" cy="53472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Parsing &amp; Scoring.</a:t>
            </a:r>
            <a:endParaRPr lang="en-US" sz="1440" dirty="0"/>
          </a:p>
        </p:txBody>
      </p:sp>
      <p:sp>
        <p:nvSpPr>
          <p:cNvPr id="26" name="Text 20"/>
          <p:cNvSpPr/>
          <p:nvPr/>
        </p:nvSpPr>
        <p:spPr>
          <a:xfrm>
            <a:off x="4665177" y="2294733"/>
            <a:ext cx="191754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Groq AI extracts structured JSON, scores candidates 1–10, supports re-prompts on schema errors.</a:t>
            </a:r>
            <a:endParaRPr lang="en-US" sz="1440" dirty="0"/>
          </a:p>
        </p:txBody>
      </p:sp>
      <p:sp>
        <p:nvSpPr>
          <p:cNvPr id="27" name="Text 21"/>
          <p:cNvSpPr/>
          <p:nvPr/>
        </p:nvSpPr>
        <p:spPr>
          <a:xfrm>
            <a:off x="6769072" y="1622847"/>
            <a:ext cx="1917542" cy="53472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Validation &amp; Schema.</a:t>
            </a:r>
            <a:endParaRPr lang="en-US" sz="1440" dirty="0"/>
          </a:p>
        </p:txBody>
      </p:sp>
      <p:sp>
        <p:nvSpPr>
          <p:cNvPr id="28" name="Text 22"/>
          <p:cNvSpPr/>
          <p:nvPr/>
        </p:nvSpPr>
        <p:spPr>
          <a:xfrm>
            <a:off x="6769072" y="2294733"/>
            <a:ext cx="191754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JSON schema and validation layer standardize outputs and trigger re-parsing when inconsistent.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73" y="176386"/>
            <a:ext cx="8240836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Authentication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86" y="973100"/>
            <a:ext cx="4209837" cy="170108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877" y="973100"/>
            <a:ext cx="4209837" cy="1701083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286" y="2853664"/>
            <a:ext cx="4209898" cy="1700784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425" y="2853664"/>
            <a:ext cx="4209898" cy="1700784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787325" y="1969030"/>
            <a:ext cx="1569350" cy="1569350"/>
          </a:xfrm>
          <a:custGeom>
            <a:avLst/>
            <a:gdLst/>
            <a:ahLst/>
            <a:cxnLst/>
            <a:rect l="l" t="t" r="r" b="b"/>
            <a:pathLst>
              <a:path w="1569350" h="1569350">
                <a:moveTo>
                  <a:pt x="784675" y="0"/>
                </a:moveTo>
                <a:moveTo>
                  <a:pt x="784675" y="0"/>
                </a:moveTo>
                <a:cubicBezTo>
                  <a:pt x="1217749" y="0"/>
                  <a:pt x="1569350" y="351601"/>
                  <a:pt x="1569350" y="784675"/>
                </a:cubicBezTo>
                <a:cubicBezTo>
                  <a:pt x="1569350" y="1217749"/>
                  <a:pt x="1217749" y="1569350"/>
                  <a:pt x="784675" y="1569350"/>
                </a:cubicBezTo>
                <a:cubicBezTo>
                  <a:pt x="351601" y="1569350"/>
                  <a:pt x="0" y="1217749"/>
                  <a:pt x="0" y="784675"/>
                </a:cubicBezTo>
                <a:cubicBezTo>
                  <a:pt x="0" y="351601"/>
                  <a:pt x="351601" y="0"/>
                  <a:pt x="78467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9B6047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66908" y="1083974"/>
            <a:ext cx="4002593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Authentication Provider.</a:t>
            </a:r>
            <a:endParaRPr lang="en-US" sz="1440" dirty="0"/>
          </a:p>
        </p:txBody>
      </p:sp>
      <p:sp>
        <p:nvSpPr>
          <p:cNvPr id="9" name="Text 3"/>
          <p:cNvSpPr/>
          <p:nvPr/>
        </p:nvSpPr>
        <p:spPr>
          <a:xfrm>
            <a:off x="386728" y="1589172"/>
            <a:ext cx="3400597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Supabase handles user authentication and session management across the application.</a:t>
            </a:r>
            <a:endParaRPr lang="en-US" sz="1440" dirty="0"/>
          </a:p>
        </p:txBody>
      </p:sp>
      <p:sp>
        <p:nvSpPr>
          <p:cNvPr id="10" name="Text 4"/>
          <p:cNvSpPr/>
          <p:nvPr/>
        </p:nvSpPr>
        <p:spPr>
          <a:xfrm>
            <a:off x="4670877" y="1083974"/>
            <a:ext cx="405044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 Flow.</a:t>
            </a:r>
            <a:endParaRPr lang="en-US" sz="1440" dirty="0"/>
          </a:p>
        </p:txBody>
      </p:sp>
      <p:sp>
        <p:nvSpPr>
          <p:cNvPr id="11" name="Text 5"/>
          <p:cNvSpPr/>
          <p:nvPr/>
        </p:nvSpPr>
        <p:spPr>
          <a:xfrm>
            <a:off x="5239344" y="1589172"/>
            <a:ext cx="3481982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Users sign in before uploading resumes; auth precedes Groq parsing and storage.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366908" y="2954248"/>
            <a:ext cx="3400597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Role &amp; Permissions.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386728" y="3414018"/>
            <a:ext cx="3400597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TypeScript-enforced roles prevent frontend/backend mismatches and restrict access.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5356675" y="2954248"/>
            <a:ext cx="3364651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Metadata Storage.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5477745" y="3414018"/>
            <a:ext cx="3243581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Supabase stores user metadata while MongoDB stores parsed resume records.</a:t>
            </a:r>
            <a:endParaRPr lang="en-US" sz="144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4658" y="2386364"/>
            <a:ext cx="734683" cy="7346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73" y="176386"/>
            <a:ext cx="8240836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Groq AI Integration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258837" y="948010"/>
            <a:ext cx="4283050" cy="1862633"/>
          </a:xfrm>
          <a:custGeom>
            <a:avLst/>
            <a:gdLst/>
            <a:ahLst/>
            <a:cxnLst/>
            <a:rect l="l" t="t" r="r" b="b"/>
            <a:pathLst>
              <a:path w="4283050" h="1862633">
                <a:moveTo>
                  <a:pt x="176267" y="0"/>
                </a:moveTo>
                <a:moveTo>
                  <a:pt x="176267" y="0"/>
                </a:moveTo>
                <a:lnTo>
                  <a:pt x="4106782" y="0"/>
                </a:lnTo>
                <a:quadBezTo>
                  <a:pt x="4283050" y="0"/>
                  <a:pt x="4283050" y="176267"/>
                </a:quadBezTo>
                <a:lnTo>
                  <a:pt x="4283050" y="1686366"/>
                </a:lnTo>
                <a:quadBezTo>
                  <a:pt x="4283050" y="1862633"/>
                  <a:pt x="4106782" y="1862633"/>
                </a:quadBezTo>
                <a:lnTo>
                  <a:pt x="176267" y="1862633"/>
                </a:lnTo>
                <a:quadBezTo>
                  <a:pt x="0" y="1862633"/>
                  <a:pt x="0" y="1686366"/>
                </a:quadBezTo>
                <a:lnTo>
                  <a:pt x="0" y="176267"/>
                </a:lnTo>
                <a:quadBezTo>
                  <a:pt x="0" y="0"/>
                  <a:pt x="176267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9525">
            <a:solidFill>
              <a:srgbClr val="9B6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97014" y="948233"/>
            <a:ext cx="4283050" cy="1862633"/>
          </a:xfrm>
          <a:custGeom>
            <a:avLst/>
            <a:gdLst/>
            <a:ahLst/>
            <a:cxnLst/>
            <a:rect l="l" t="t" r="r" b="b"/>
            <a:pathLst>
              <a:path w="4283050" h="1862633">
                <a:moveTo>
                  <a:pt x="176267" y="0"/>
                </a:moveTo>
                <a:moveTo>
                  <a:pt x="176267" y="0"/>
                </a:moveTo>
                <a:lnTo>
                  <a:pt x="4106782" y="0"/>
                </a:lnTo>
                <a:quadBezTo>
                  <a:pt x="4283050" y="0"/>
                  <a:pt x="4283050" y="176267"/>
                </a:quadBezTo>
                <a:lnTo>
                  <a:pt x="4283050" y="1686366"/>
                </a:lnTo>
                <a:quadBezTo>
                  <a:pt x="4283050" y="1862633"/>
                  <a:pt x="4106782" y="1862633"/>
                </a:quadBezTo>
                <a:lnTo>
                  <a:pt x="176267" y="1862633"/>
                </a:lnTo>
                <a:quadBezTo>
                  <a:pt x="0" y="1862633"/>
                  <a:pt x="0" y="1686366"/>
                </a:quadBezTo>
                <a:lnTo>
                  <a:pt x="0" y="176267"/>
                </a:lnTo>
                <a:quadBezTo>
                  <a:pt x="0" y="0"/>
                  <a:pt x="176267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9525">
            <a:solidFill>
              <a:srgbClr val="9B6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96751" y="2910535"/>
            <a:ext cx="4283050" cy="1862633"/>
          </a:xfrm>
          <a:custGeom>
            <a:avLst/>
            <a:gdLst/>
            <a:ahLst/>
            <a:cxnLst/>
            <a:rect l="l" t="t" r="r" b="b"/>
            <a:pathLst>
              <a:path w="4283050" h="1862633">
                <a:moveTo>
                  <a:pt x="176267" y="0"/>
                </a:moveTo>
                <a:moveTo>
                  <a:pt x="176267" y="0"/>
                </a:moveTo>
                <a:lnTo>
                  <a:pt x="4106782" y="0"/>
                </a:lnTo>
                <a:quadBezTo>
                  <a:pt x="4283050" y="0"/>
                  <a:pt x="4283050" y="176267"/>
                </a:quadBezTo>
                <a:lnTo>
                  <a:pt x="4283050" y="1686366"/>
                </a:lnTo>
                <a:quadBezTo>
                  <a:pt x="4283050" y="1862633"/>
                  <a:pt x="4106782" y="1862633"/>
                </a:quadBezTo>
                <a:lnTo>
                  <a:pt x="176267" y="1862633"/>
                </a:lnTo>
                <a:quadBezTo>
                  <a:pt x="0" y="1862633"/>
                  <a:pt x="0" y="1686366"/>
                </a:quadBezTo>
                <a:lnTo>
                  <a:pt x="0" y="176267"/>
                </a:lnTo>
                <a:quadBezTo>
                  <a:pt x="0" y="0"/>
                  <a:pt x="176267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9525">
            <a:solidFill>
              <a:srgbClr val="9B60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8777" y="2910531"/>
            <a:ext cx="4282861" cy="1862800"/>
          </a:xfrm>
          <a:custGeom>
            <a:avLst/>
            <a:gdLst/>
            <a:ahLst/>
            <a:cxnLst/>
            <a:rect l="l" t="t" r="r" b="b"/>
            <a:pathLst>
              <a:path w="4282861" h="1862800">
                <a:moveTo>
                  <a:pt x="166608" y="0"/>
                </a:moveTo>
                <a:moveTo>
                  <a:pt x="166608" y="0"/>
                </a:moveTo>
                <a:lnTo>
                  <a:pt x="4116253" y="0"/>
                </a:lnTo>
                <a:quadBezTo>
                  <a:pt x="4282861" y="0"/>
                  <a:pt x="4282861" y="176283"/>
                </a:quadBezTo>
                <a:lnTo>
                  <a:pt x="4282861" y="1686517"/>
                </a:lnTo>
                <a:quadBezTo>
                  <a:pt x="4282861" y="1862800"/>
                  <a:pt x="4116253" y="1862800"/>
                </a:quadBezTo>
                <a:lnTo>
                  <a:pt x="166608" y="1862800"/>
                </a:lnTo>
                <a:quadBezTo>
                  <a:pt x="0" y="1862800"/>
                  <a:pt x="0" y="1686517"/>
                </a:quadBezTo>
                <a:lnTo>
                  <a:pt x="0" y="176283"/>
                </a:lnTo>
                <a:quadBezTo>
                  <a:pt x="0" y="0"/>
                  <a:pt x="166608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9525">
            <a:solidFill>
              <a:srgbClr val="9B604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852" y="2397516"/>
            <a:ext cx="420786" cy="42078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4120852" y="2901924"/>
            <a:ext cx="420786" cy="420786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97014" y="2397516"/>
            <a:ext cx="420786" cy="420786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4597014" y="2901924"/>
            <a:ext cx="420786" cy="42078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83892" y="1051608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12" name="Text 6"/>
          <p:cNvSpPr/>
          <p:nvPr/>
        </p:nvSpPr>
        <p:spPr>
          <a:xfrm>
            <a:off x="383892" y="1583700"/>
            <a:ext cx="4005207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Design tailored prompts and JSON schema to ensure structured, consistent parsing outputs.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4735935" y="1583700"/>
            <a:ext cx="4005207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Groq parses resumes into validated JSON, then computes 1–10 candidate scores.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383892" y="3322710"/>
            <a:ext cx="400520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Validation layer detects inconsistencies and triggers targeted re-prompts for reliable data.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4807407" y="3322710"/>
            <a:ext cx="3933735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Async processing and caching reduce latency from external Groq calls significantly.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455826" y="1118003"/>
            <a:ext cx="386207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Prompt Engineering Strategies</a:t>
            </a:r>
            <a:endParaRPr lang="en-US" sz="1440" dirty="0"/>
          </a:p>
        </p:txBody>
      </p:sp>
      <p:sp>
        <p:nvSpPr>
          <p:cNvPr id="17" name="Shape 11"/>
          <p:cNvSpPr/>
          <p:nvPr/>
        </p:nvSpPr>
        <p:spPr>
          <a:xfrm>
            <a:off x="4735935" y="1051608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18" name="Text 12"/>
          <p:cNvSpPr/>
          <p:nvPr/>
        </p:nvSpPr>
        <p:spPr>
          <a:xfrm>
            <a:off x="4807407" y="1118003"/>
            <a:ext cx="3882523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Parsing &amp; Scoring Pipeline</a:t>
            </a:r>
            <a:endParaRPr lang="en-US" sz="1440" dirty="0"/>
          </a:p>
        </p:txBody>
      </p:sp>
      <p:sp>
        <p:nvSpPr>
          <p:cNvPr id="19" name="Shape 13"/>
          <p:cNvSpPr/>
          <p:nvPr/>
        </p:nvSpPr>
        <p:spPr>
          <a:xfrm>
            <a:off x="383892" y="4130667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20" name="Text 14"/>
          <p:cNvSpPr/>
          <p:nvPr/>
        </p:nvSpPr>
        <p:spPr>
          <a:xfrm>
            <a:off x="455826" y="4197062"/>
            <a:ext cx="386207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Error Handling &amp; Re-prompting</a:t>
            </a:r>
            <a:endParaRPr lang="en-US" sz="1440" dirty="0"/>
          </a:p>
        </p:txBody>
      </p:sp>
      <p:sp>
        <p:nvSpPr>
          <p:cNvPr id="21" name="Shape 15"/>
          <p:cNvSpPr/>
          <p:nvPr/>
        </p:nvSpPr>
        <p:spPr>
          <a:xfrm>
            <a:off x="4735935" y="4130667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22" name="Text 16"/>
          <p:cNvSpPr/>
          <p:nvPr/>
        </p:nvSpPr>
        <p:spPr>
          <a:xfrm>
            <a:off x="4807407" y="4197062"/>
            <a:ext cx="3882523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Optimizations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73" y="176386"/>
            <a:ext cx="8240836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Dashboard Candidate Ranking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431928" y="999968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9B6047">
              <a:alpha val="9020"/>
            </a:srgbClr>
          </a:solidFill>
          <a:ln w="9525">
            <a:solidFill>
              <a:srgbClr val="9B6047">
                <a:alpha val="43137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31" y="1152829"/>
            <a:ext cx="1990685" cy="5329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1248" y="1060395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B6047"/>
            </a:solidFill>
            <a:prstDash val="solid"/>
            <a:headEnd type="none"/>
            <a:tailEnd type="arrow"/>
          </a:ln>
        </p:spPr>
      </p:sp>
      <p:sp>
        <p:nvSpPr>
          <p:cNvPr id="6" name="Shape 3"/>
          <p:cNvSpPr/>
          <p:nvPr/>
        </p:nvSpPr>
        <p:spPr>
          <a:xfrm>
            <a:off x="619036" y="1838647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9B604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68574" y="990824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8" name="Shape 5"/>
          <p:cNvSpPr/>
          <p:nvPr/>
        </p:nvSpPr>
        <p:spPr>
          <a:xfrm>
            <a:off x="407227" y="1930712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9B6047">
              <a:alpha val="9020"/>
            </a:srgbClr>
          </a:solidFill>
          <a:ln w="9525">
            <a:solidFill>
              <a:srgbClr val="9B6047">
                <a:alpha val="43137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30" y="2083573"/>
            <a:ext cx="1990685" cy="53295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6547" y="1991139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C6B38"/>
            </a:solidFill>
            <a:prstDash val="solid"/>
            <a:headEnd type="none"/>
            <a:tailEnd type="arrow"/>
          </a:ln>
        </p:spPr>
      </p:sp>
      <p:sp>
        <p:nvSpPr>
          <p:cNvPr id="11" name="Shape 7"/>
          <p:cNvSpPr/>
          <p:nvPr/>
        </p:nvSpPr>
        <p:spPr>
          <a:xfrm>
            <a:off x="594335" y="2769392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CC6B38"/>
            </a:solidFill>
            <a:prstDash val="solid"/>
            <a:headEnd type="none"/>
            <a:tailEnd type="none"/>
          </a:ln>
        </p:spPr>
      </p:sp>
      <p:sp>
        <p:nvSpPr>
          <p:cNvPr id="12" name="Text 8"/>
          <p:cNvSpPr/>
          <p:nvPr/>
        </p:nvSpPr>
        <p:spPr>
          <a:xfrm>
            <a:off x="7643873" y="1921568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CC6B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3" name="Shape 9"/>
          <p:cNvSpPr/>
          <p:nvPr/>
        </p:nvSpPr>
        <p:spPr>
          <a:xfrm>
            <a:off x="407227" y="2850413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9B6047">
              <a:alpha val="9020"/>
            </a:srgbClr>
          </a:solidFill>
          <a:ln w="9525">
            <a:solidFill>
              <a:srgbClr val="9B6047">
                <a:alpha val="43137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030" y="3003274"/>
            <a:ext cx="1990685" cy="532957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6547" y="2910840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B6047"/>
            </a:solidFill>
            <a:prstDash val="solid"/>
            <a:headEnd type="none"/>
            <a:tailEnd type="arrow"/>
          </a:ln>
        </p:spPr>
      </p:sp>
      <p:sp>
        <p:nvSpPr>
          <p:cNvPr id="16" name="Shape 11"/>
          <p:cNvSpPr/>
          <p:nvPr/>
        </p:nvSpPr>
        <p:spPr>
          <a:xfrm>
            <a:off x="594335" y="3689092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9B6047"/>
            </a:solidFill>
            <a:prstDash val="solid"/>
            <a:headEnd type="none"/>
            <a:tailEnd type="none"/>
          </a:ln>
        </p:spPr>
      </p:sp>
      <p:sp>
        <p:nvSpPr>
          <p:cNvPr id="17" name="Text 12"/>
          <p:cNvSpPr/>
          <p:nvPr/>
        </p:nvSpPr>
        <p:spPr>
          <a:xfrm>
            <a:off x="7643873" y="2841269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8" name="Shape 13"/>
          <p:cNvSpPr/>
          <p:nvPr/>
        </p:nvSpPr>
        <p:spPr>
          <a:xfrm>
            <a:off x="382526" y="3778065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9B6047">
              <a:alpha val="9020"/>
            </a:srgbClr>
          </a:solidFill>
          <a:ln w="9525">
            <a:solidFill>
              <a:srgbClr val="9B6047">
                <a:alpha val="43137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29" y="3930926"/>
            <a:ext cx="1990685" cy="53295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61846" y="3838492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C6B38"/>
            </a:solidFill>
            <a:prstDash val="solid"/>
            <a:headEnd type="none"/>
            <a:tailEnd type="arrow"/>
          </a:ln>
        </p:spPr>
      </p:sp>
      <p:sp>
        <p:nvSpPr>
          <p:cNvPr id="21" name="Shape 15"/>
          <p:cNvSpPr/>
          <p:nvPr/>
        </p:nvSpPr>
        <p:spPr>
          <a:xfrm>
            <a:off x="569634" y="4616745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CC6B38"/>
            </a:solidFill>
            <a:prstDash val="solid"/>
            <a:headEnd type="none"/>
            <a:tailEnd type="none"/>
          </a:ln>
        </p:spPr>
      </p:sp>
      <p:sp>
        <p:nvSpPr>
          <p:cNvPr id="22" name="Text 16"/>
          <p:cNvSpPr/>
          <p:nvPr/>
        </p:nvSpPr>
        <p:spPr>
          <a:xfrm>
            <a:off x="7619172" y="3768921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CC6B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23" name="Text 17"/>
          <p:cNvSpPr/>
          <p:nvPr/>
        </p:nvSpPr>
        <p:spPr>
          <a:xfrm>
            <a:off x="541731" y="1152829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Ranking Scale (1–10)</a:t>
            </a:r>
            <a:endParaRPr lang="en-US" sz="1440" dirty="0"/>
          </a:p>
        </p:txBody>
      </p:sp>
      <p:sp>
        <p:nvSpPr>
          <p:cNvPr id="24" name="Text 18"/>
          <p:cNvSpPr/>
          <p:nvPr/>
        </p:nvSpPr>
        <p:spPr>
          <a:xfrm>
            <a:off x="2576224" y="1117556"/>
            <a:ext cx="5251478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Numeric candidate score from 1 to 10 with justification and breakdown.</a:t>
            </a:r>
            <a:endParaRPr lang="en-US" sz="1440" dirty="0"/>
          </a:p>
        </p:txBody>
      </p:sp>
      <p:sp>
        <p:nvSpPr>
          <p:cNvPr id="25" name="Text 19"/>
          <p:cNvSpPr/>
          <p:nvPr/>
        </p:nvSpPr>
        <p:spPr>
          <a:xfrm>
            <a:off x="517030" y="2083573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Scoring Criteria</a:t>
            </a:r>
            <a:endParaRPr lang="en-US" sz="1440" dirty="0"/>
          </a:p>
        </p:txBody>
      </p:sp>
      <p:sp>
        <p:nvSpPr>
          <p:cNvPr id="26" name="Text 20"/>
          <p:cNvSpPr/>
          <p:nvPr/>
        </p:nvSpPr>
        <p:spPr>
          <a:xfrm>
            <a:off x="2551523" y="2048300"/>
            <a:ext cx="525147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Skills, experience, keyword match, relevance and AI-extracted metrics determine score.</a:t>
            </a:r>
            <a:endParaRPr lang="en-US" sz="1440" dirty="0"/>
          </a:p>
        </p:txBody>
      </p:sp>
      <p:sp>
        <p:nvSpPr>
          <p:cNvPr id="27" name="Text 21"/>
          <p:cNvSpPr/>
          <p:nvPr/>
        </p:nvSpPr>
        <p:spPr>
          <a:xfrm>
            <a:off x="517030" y="3003274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Extraction Accuracy</a:t>
            </a:r>
            <a:endParaRPr lang="en-US" sz="1440" dirty="0"/>
          </a:p>
        </p:txBody>
      </p:sp>
      <p:sp>
        <p:nvSpPr>
          <p:cNvPr id="28" name="Text 22"/>
          <p:cNvSpPr/>
          <p:nvPr/>
        </p:nvSpPr>
        <p:spPr>
          <a:xfrm>
            <a:off x="2551523" y="2968001"/>
            <a:ext cx="5251478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95%+ structured data extraction from messy resumes ensures reliable inputs.</a:t>
            </a:r>
            <a:endParaRPr lang="en-US" sz="1440" dirty="0"/>
          </a:p>
        </p:txBody>
      </p:sp>
      <p:sp>
        <p:nvSpPr>
          <p:cNvPr id="29" name="Text 23"/>
          <p:cNvSpPr/>
          <p:nvPr/>
        </p:nvSpPr>
        <p:spPr>
          <a:xfrm>
            <a:off x="492329" y="3930926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Candidate Comparison</a:t>
            </a:r>
            <a:endParaRPr lang="en-US" sz="1440" dirty="0"/>
          </a:p>
        </p:txBody>
      </p:sp>
      <p:sp>
        <p:nvSpPr>
          <p:cNvPr id="30" name="Text 24"/>
          <p:cNvSpPr/>
          <p:nvPr/>
        </p:nvSpPr>
        <p:spPr>
          <a:xfrm>
            <a:off x="2526821" y="3895653"/>
            <a:ext cx="5251478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Side-by-side visual comparison of top candidates' skills and job fit.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73" y="176386"/>
            <a:ext cx="8240836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PII Redaction Feature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258837" y="948010"/>
            <a:ext cx="4283050" cy="1862633"/>
          </a:xfrm>
          <a:custGeom>
            <a:avLst/>
            <a:gdLst/>
            <a:ahLst/>
            <a:cxnLst/>
            <a:rect l="l" t="t" r="r" b="b"/>
            <a:pathLst>
              <a:path w="4283050" h="1862633">
                <a:moveTo>
                  <a:pt x="176267" y="0"/>
                </a:moveTo>
                <a:moveTo>
                  <a:pt x="176267" y="0"/>
                </a:moveTo>
                <a:lnTo>
                  <a:pt x="4106782" y="0"/>
                </a:lnTo>
                <a:quadBezTo>
                  <a:pt x="4283050" y="0"/>
                  <a:pt x="4283050" y="176267"/>
                </a:quadBezTo>
                <a:lnTo>
                  <a:pt x="4283050" y="1686366"/>
                </a:lnTo>
                <a:quadBezTo>
                  <a:pt x="4283050" y="1862633"/>
                  <a:pt x="4106782" y="1862633"/>
                </a:quadBezTo>
                <a:lnTo>
                  <a:pt x="176267" y="1862633"/>
                </a:lnTo>
                <a:quadBezTo>
                  <a:pt x="0" y="1862633"/>
                  <a:pt x="0" y="1686366"/>
                </a:quadBezTo>
                <a:lnTo>
                  <a:pt x="0" y="176267"/>
                </a:lnTo>
                <a:quadBezTo>
                  <a:pt x="0" y="0"/>
                  <a:pt x="176267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9525">
            <a:solidFill>
              <a:srgbClr val="9B6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97014" y="948233"/>
            <a:ext cx="4283050" cy="1862633"/>
          </a:xfrm>
          <a:custGeom>
            <a:avLst/>
            <a:gdLst/>
            <a:ahLst/>
            <a:cxnLst/>
            <a:rect l="l" t="t" r="r" b="b"/>
            <a:pathLst>
              <a:path w="4283050" h="1862633">
                <a:moveTo>
                  <a:pt x="176267" y="0"/>
                </a:moveTo>
                <a:moveTo>
                  <a:pt x="176267" y="0"/>
                </a:moveTo>
                <a:lnTo>
                  <a:pt x="4106782" y="0"/>
                </a:lnTo>
                <a:quadBezTo>
                  <a:pt x="4283050" y="0"/>
                  <a:pt x="4283050" y="176267"/>
                </a:quadBezTo>
                <a:lnTo>
                  <a:pt x="4283050" y="1686366"/>
                </a:lnTo>
                <a:quadBezTo>
                  <a:pt x="4283050" y="1862633"/>
                  <a:pt x="4106782" y="1862633"/>
                </a:quadBezTo>
                <a:lnTo>
                  <a:pt x="176267" y="1862633"/>
                </a:lnTo>
                <a:quadBezTo>
                  <a:pt x="0" y="1862633"/>
                  <a:pt x="0" y="1686366"/>
                </a:quadBezTo>
                <a:lnTo>
                  <a:pt x="0" y="176267"/>
                </a:lnTo>
                <a:quadBezTo>
                  <a:pt x="0" y="0"/>
                  <a:pt x="176267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9525">
            <a:solidFill>
              <a:srgbClr val="9B6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96751" y="2910535"/>
            <a:ext cx="4283050" cy="1862633"/>
          </a:xfrm>
          <a:custGeom>
            <a:avLst/>
            <a:gdLst/>
            <a:ahLst/>
            <a:cxnLst/>
            <a:rect l="l" t="t" r="r" b="b"/>
            <a:pathLst>
              <a:path w="4283050" h="1862633">
                <a:moveTo>
                  <a:pt x="176267" y="0"/>
                </a:moveTo>
                <a:moveTo>
                  <a:pt x="176267" y="0"/>
                </a:moveTo>
                <a:lnTo>
                  <a:pt x="4106782" y="0"/>
                </a:lnTo>
                <a:quadBezTo>
                  <a:pt x="4283050" y="0"/>
                  <a:pt x="4283050" y="176267"/>
                </a:quadBezTo>
                <a:lnTo>
                  <a:pt x="4283050" y="1686366"/>
                </a:lnTo>
                <a:quadBezTo>
                  <a:pt x="4283050" y="1862633"/>
                  <a:pt x="4106782" y="1862633"/>
                </a:quadBezTo>
                <a:lnTo>
                  <a:pt x="176267" y="1862633"/>
                </a:lnTo>
                <a:quadBezTo>
                  <a:pt x="0" y="1862633"/>
                  <a:pt x="0" y="1686366"/>
                </a:quadBezTo>
                <a:lnTo>
                  <a:pt x="0" y="176267"/>
                </a:lnTo>
                <a:quadBezTo>
                  <a:pt x="0" y="0"/>
                  <a:pt x="176267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9525">
            <a:solidFill>
              <a:srgbClr val="9B60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8777" y="2910531"/>
            <a:ext cx="4282861" cy="1862800"/>
          </a:xfrm>
          <a:custGeom>
            <a:avLst/>
            <a:gdLst/>
            <a:ahLst/>
            <a:cxnLst/>
            <a:rect l="l" t="t" r="r" b="b"/>
            <a:pathLst>
              <a:path w="4282861" h="1862800">
                <a:moveTo>
                  <a:pt x="166608" y="0"/>
                </a:moveTo>
                <a:moveTo>
                  <a:pt x="166608" y="0"/>
                </a:moveTo>
                <a:lnTo>
                  <a:pt x="4116253" y="0"/>
                </a:lnTo>
                <a:quadBezTo>
                  <a:pt x="4282861" y="0"/>
                  <a:pt x="4282861" y="176283"/>
                </a:quadBezTo>
                <a:lnTo>
                  <a:pt x="4282861" y="1686517"/>
                </a:lnTo>
                <a:quadBezTo>
                  <a:pt x="4282861" y="1862800"/>
                  <a:pt x="4116253" y="1862800"/>
                </a:quadBezTo>
                <a:lnTo>
                  <a:pt x="166608" y="1862800"/>
                </a:lnTo>
                <a:quadBezTo>
                  <a:pt x="0" y="1862800"/>
                  <a:pt x="0" y="1686517"/>
                </a:quadBezTo>
                <a:lnTo>
                  <a:pt x="0" y="176283"/>
                </a:lnTo>
                <a:quadBezTo>
                  <a:pt x="0" y="0"/>
                  <a:pt x="166608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9525">
            <a:solidFill>
              <a:srgbClr val="9B604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852" y="2397516"/>
            <a:ext cx="420786" cy="42078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4120852" y="2901924"/>
            <a:ext cx="420786" cy="420786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97014" y="2397516"/>
            <a:ext cx="420786" cy="420786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4597014" y="2901924"/>
            <a:ext cx="420786" cy="42078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83892" y="1051608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12" name="Text 6"/>
          <p:cNvSpPr/>
          <p:nvPr/>
        </p:nvSpPr>
        <p:spPr>
          <a:xfrm>
            <a:off x="383892" y="1583700"/>
            <a:ext cx="4005207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Remove personal contact details automatically to protect candidate privacy during parsing and sharing.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4735935" y="1583700"/>
            <a:ext cx="4005207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 recognition, regex, and LLM validation identify names, emails, phones, addresses.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383892" y="3322710"/>
            <a:ext cx="400520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Server-side pipeline redacts before storage; integrates with Groq parsing flow.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4807407" y="3322710"/>
            <a:ext cx="3933735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Admins can toggle redaction levels and review redacted fields manually.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455826" y="1118003"/>
            <a:ext cx="386207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Purpose of Redaction.</a:t>
            </a:r>
            <a:endParaRPr lang="en-US" sz="1440" dirty="0"/>
          </a:p>
        </p:txBody>
      </p:sp>
      <p:sp>
        <p:nvSpPr>
          <p:cNvPr id="17" name="Shape 11"/>
          <p:cNvSpPr/>
          <p:nvPr/>
        </p:nvSpPr>
        <p:spPr>
          <a:xfrm>
            <a:off x="4735935" y="1051608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18" name="Text 12"/>
          <p:cNvSpPr/>
          <p:nvPr/>
        </p:nvSpPr>
        <p:spPr>
          <a:xfrm>
            <a:off x="4807407" y="1118003"/>
            <a:ext cx="3882523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Detection Techniques.</a:t>
            </a:r>
            <a:endParaRPr lang="en-US" sz="1440" dirty="0"/>
          </a:p>
        </p:txBody>
      </p:sp>
      <p:sp>
        <p:nvSpPr>
          <p:cNvPr id="19" name="Shape 13"/>
          <p:cNvSpPr/>
          <p:nvPr/>
        </p:nvSpPr>
        <p:spPr>
          <a:xfrm>
            <a:off x="383892" y="4130667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20" name="Text 14"/>
          <p:cNvSpPr/>
          <p:nvPr/>
        </p:nvSpPr>
        <p:spPr>
          <a:xfrm>
            <a:off x="455826" y="4197062"/>
            <a:ext cx="386207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 Approach.</a:t>
            </a:r>
            <a:endParaRPr lang="en-US" sz="1440" dirty="0"/>
          </a:p>
        </p:txBody>
      </p:sp>
      <p:sp>
        <p:nvSpPr>
          <p:cNvPr id="21" name="Shape 15"/>
          <p:cNvSpPr/>
          <p:nvPr/>
        </p:nvSpPr>
        <p:spPr>
          <a:xfrm>
            <a:off x="4735935" y="4130667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22" name="Text 16"/>
          <p:cNvSpPr/>
          <p:nvPr/>
        </p:nvSpPr>
        <p:spPr>
          <a:xfrm>
            <a:off x="4807407" y="4197062"/>
            <a:ext cx="3882523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Controls.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73" y="176386"/>
            <a:ext cx="8240836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Screenshots Demo Description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39" y="1306072"/>
            <a:ext cx="8922252" cy="189597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44122" y="1219329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5" name="Text 2"/>
          <p:cNvSpPr/>
          <p:nvPr/>
        </p:nvSpPr>
        <p:spPr>
          <a:xfrm>
            <a:off x="444122" y="1118849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1770341" y="3294391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CC6B38"/>
          </a:solidFill>
          <a:ln/>
        </p:spPr>
      </p:sp>
      <p:sp>
        <p:nvSpPr>
          <p:cNvPr id="7" name="Shape 4"/>
          <p:cNvSpPr/>
          <p:nvPr/>
        </p:nvSpPr>
        <p:spPr>
          <a:xfrm>
            <a:off x="3779623" y="1015203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524621" y="1690310"/>
            <a:ext cx="2493292" cy="4205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79623" y="914723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0" name="Shape 6"/>
          <p:cNvSpPr/>
          <p:nvPr/>
        </p:nvSpPr>
        <p:spPr>
          <a:xfrm>
            <a:off x="5604416" y="3020728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CC6B3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910284" y="1803510"/>
            <a:ext cx="2672235" cy="4205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70341" y="3193911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5613560" y="2929392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4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35766" y="3923167"/>
            <a:ext cx="1831405" cy="389174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743577" y="3732803"/>
            <a:ext cx="1831405" cy="38917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76986" y="1520647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 Dashboard Mockup</a:t>
            </a:r>
            <a:endParaRPr lang="en-US" sz="1440" dirty="0"/>
          </a:p>
        </p:txBody>
      </p:sp>
      <p:sp>
        <p:nvSpPr>
          <p:cNvPr id="17" name="Text 10"/>
          <p:cNvSpPr/>
          <p:nvPr/>
        </p:nvSpPr>
        <p:spPr>
          <a:xfrm>
            <a:off x="576870" y="1932592"/>
            <a:ext cx="2958288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Show candidate score bar graph, ranking list, and overall summary metrics.</a:t>
            </a:r>
            <a:endParaRPr lang="en-US" sz="1440" dirty="0"/>
          </a:p>
        </p:txBody>
      </p:sp>
      <p:sp>
        <p:nvSpPr>
          <p:cNvPr id="18" name="Text 11"/>
          <p:cNvSpPr/>
          <p:nvPr/>
        </p:nvSpPr>
        <p:spPr>
          <a:xfrm>
            <a:off x="1767535" y="3613709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Candidate Page Mockup</a:t>
            </a:r>
            <a:endParaRPr lang="en-US" sz="1440" dirty="0"/>
          </a:p>
        </p:txBody>
      </p:sp>
      <p:sp>
        <p:nvSpPr>
          <p:cNvPr id="19" name="Text 12"/>
          <p:cNvSpPr/>
          <p:nvPr/>
        </p:nvSpPr>
        <p:spPr>
          <a:xfrm>
            <a:off x="1748333" y="4036162"/>
            <a:ext cx="2958084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Display extracted skills versus job requirements, skill match highlights, and PII redaction indicator.</a:t>
            </a:r>
            <a:endParaRPr lang="en-US" sz="1440" dirty="0"/>
          </a:p>
        </p:txBody>
      </p:sp>
      <p:sp>
        <p:nvSpPr>
          <p:cNvPr id="20" name="Text 13"/>
          <p:cNvSpPr/>
          <p:nvPr/>
        </p:nvSpPr>
        <p:spPr>
          <a:xfrm>
            <a:off x="3902659" y="1311250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Demo Notes</a:t>
            </a:r>
            <a:endParaRPr lang="en-US" sz="1440" dirty="0"/>
          </a:p>
        </p:txBody>
      </p:sp>
      <p:sp>
        <p:nvSpPr>
          <p:cNvPr id="21" name="Text 14"/>
          <p:cNvSpPr/>
          <p:nvPr/>
        </p:nvSpPr>
        <p:spPr>
          <a:xfrm>
            <a:off x="3902646" y="1722730"/>
            <a:ext cx="2958084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Replace placeholders with real screenshots; annotate interactive elements and data flows.</a:t>
            </a:r>
            <a:endParaRPr lang="en-US" sz="1440" dirty="0"/>
          </a:p>
        </p:txBody>
      </p:sp>
      <p:sp>
        <p:nvSpPr>
          <p:cNvPr id="22" name="Text 15"/>
          <p:cNvSpPr/>
          <p:nvPr/>
        </p:nvSpPr>
        <p:spPr>
          <a:xfrm>
            <a:off x="5773522" y="3395167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Callouts &amp; Highlights</a:t>
            </a:r>
            <a:endParaRPr lang="en-US" sz="1440" dirty="0"/>
          </a:p>
        </p:txBody>
      </p:sp>
      <p:sp>
        <p:nvSpPr>
          <p:cNvPr id="23" name="Text 16"/>
          <p:cNvSpPr/>
          <p:nvPr/>
        </p:nvSpPr>
        <p:spPr>
          <a:xfrm>
            <a:off x="5773740" y="3813048"/>
            <a:ext cx="2958084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Highlight score justifications, extraction accuracy, and action buttons for shortlist/export.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73" y="176386"/>
            <a:ext cx="8240836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Tier React Tailwind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4690102" y="2386557"/>
            <a:ext cx="1279870" cy="127987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3458141" y="2726641"/>
            <a:ext cx="1296296" cy="1296296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028" y="1507894"/>
            <a:ext cx="1247019" cy="1258243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319820" y="1120563"/>
            <a:ext cx="1263445" cy="126344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 rot="5400000">
            <a:off x="4319820" y="1120563"/>
            <a:ext cx="1263445" cy="1263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8" name="Text 2"/>
          <p:cNvSpPr/>
          <p:nvPr/>
        </p:nvSpPr>
        <p:spPr>
          <a:xfrm>
            <a:off x="258693" y="93911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Role in Architecture.</a:t>
            </a:r>
            <a:endParaRPr lang="en-US" sz="1440" dirty="0"/>
          </a:p>
        </p:txBody>
      </p:sp>
      <p:sp>
        <p:nvSpPr>
          <p:cNvPr id="9" name="Text 3"/>
          <p:cNvSpPr/>
          <p:nvPr/>
        </p:nvSpPr>
        <p:spPr>
          <a:xfrm>
            <a:off x="253537" y="1370708"/>
            <a:ext cx="283889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User-facing dashboard handling uploads, display, and REST calls to backend.</a:t>
            </a:r>
            <a:endParaRPr lang="en-US" sz="1440" dirty="0"/>
          </a:p>
        </p:txBody>
      </p:sp>
      <p:sp>
        <p:nvSpPr>
          <p:cNvPr id="10" name="Text 4"/>
          <p:cNvSpPr/>
          <p:nvPr/>
        </p:nvSpPr>
        <p:spPr>
          <a:xfrm>
            <a:off x="6002866" y="939111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UI Components.</a:t>
            </a:r>
            <a:endParaRPr lang="en-US" sz="1440" dirty="0"/>
          </a:p>
        </p:txBody>
      </p:sp>
      <p:sp>
        <p:nvSpPr>
          <p:cNvPr id="11" name="Text 5"/>
          <p:cNvSpPr/>
          <p:nvPr/>
        </p:nvSpPr>
        <p:spPr>
          <a:xfrm>
            <a:off x="6002866" y="1370686"/>
            <a:ext cx="286973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Upload widget, candidate dashboard, comparison view, score bars, and screenshot mockups.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258693" y="317116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Styling and Theme.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253537" y="3595443"/>
            <a:ext cx="283889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Tailwind with Poppins titles and Roboto body; dark-blue and teal palette.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6002866" y="3171139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Points.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6002866" y="3595443"/>
            <a:ext cx="286973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Calls HTTPS REST API, Supabase auth, and Groq AI parsing endpoints.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73" y="176386"/>
            <a:ext cx="8240836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 Tier Node TypeScript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4854253" y="2957327"/>
            <a:ext cx="4005154" cy="1859343"/>
          </a:xfrm>
          <a:custGeom>
            <a:avLst/>
            <a:gdLst/>
            <a:ahLst/>
            <a:cxnLst/>
            <a:rect l="l" t="t" r="r" b="b"/>
            <a:pathLst>
              <a:path w="4005154" h="1859343">
                <a:moveTo>
                  <a:pt x="232418" y="0"/>
                </a:moveTo>
                <a:moveTo>
                  <a:pt x="232418" y="0"/>
                </a:moveTo>
                <a:lnTo>
                  <a:pt x="3772736" y="0"/>
                </a:lnTo>
                <a:quadBezTo>
                  <a:pt x="4005154" y="0"/>
                  <a:pt x="4005154" y="232418"/>
                </a:quadBezTo>
                <a:lnTo>
                  <a:pt x="4005154" y="1626925"/>
                </a:lnTo>
                <a:quadBezTo>
                  <a:pt x="4005154" y="1859343"/>
                  <a:pt x="3772736" y="1859343"/>
                </a:quadBezTo>
                <a:lnTo>
                  <a:pt x="232418" y="1859343"/>
                </a:lnTo>
                <a:quadBezTo>
                  <a:pt x="0" y="1859343"/>
                  <a:pt x="0" y="1626925"/>
                </a:quadBezTo>
                <a:lnTo>
                  <a:pt x="0" y="232418"/>
                </a:lnTo>
                <a:quadBezTo>
                  <a:pt x="0" y="0"/>
                  <a:pt x="232418" y="0"/>
                </a:quadBezTo>
                <a:close/>
              </a:path>
            </a:pathLst>
          </a:custGeom>
          <a:solidFill>
            <a:srgbClr val="9B6047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854253" y="911002"/>
            <a:ext cx="4005154" cy="1867683"/>
          </a:xfrm>
          <a:custGeom>
            <a:avLst/>
            <a:gdLst/>
            <a:ahLst/>
            <a:cxnLst/>
            <a:rect l="l" t="t" r="r" b="b"/>
            <a:pathLst>
              <a:path w="4005154" h="1867683">
                <a:moveTo>
                  <a:pt x="233460" y="0"/>
                </a:moveTo>
                <a:moveTo>
                  <a:pt x="233460" y="0"/>
                </a:moveTo>
                <a:lnTo>
                  <a:pt x="3771693" y="0"/>
                </a:lnTo>
                <a:quadBezTo>
                  <a:pt x="4005154" y="0"/>
                  <a:pt x="4005154" y="233460"/>
                </a:quadBezTo>
                <a:lnTo>
                  <a:pt x="4005154" y="1634223"/>
                </a:lnTo>
                <a:quadBezTo>
                  <a:pt x="4005154" y="1867683"/>
                  <a:pt x="3771693" y="1867683"/>
                </a:quadBezTo>
                <a:lnTo>
                  <a:pt x="233460" y="1867683"/>
                </a:lnTo>
                <a:quadBezTo>
                  <a:pt x="0" y="1867683"/>
                  <a:pt x="0" y="1634223"/>
                </a:quadBezTo>
                <a:lnTo>
                  <a:pt x="0" y="233460"/>
                </a:lnTo>
                <a:quadBezTo>
                  <a:pt x="0" y="0"/>
                  <a:pt x="233460" y="0"/>
                </a:quadBezTo>
                <a:close/>
              </a:path>
            </a:pathLst>
          </a:custGeom>
          <a:solidFill>
            <a:srgbClr val="9B6047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4668" y="911002"/>
            <a:ext cx="4005154" cy="1867683"/>
          </a:xfrm>
          <a:custGeom>
            <a:avLst/>
            <a:gdLst/>
            <a:ahLst/>
            <a:cxnLst/>
            <a:rect l="l" t="t" r="r" b="b"/>
            <a:pathLst>
              <a:path w="4005154" h="1867683">
                <a:moveTo>
                  <a:pt x="233460" y="0"/>
                </a:moveTo>
                <a:moveTo>
                  <a:pt x="233460" y="0"/>
                </a:moveTo>
                <a:lnTo>
                  <a:pt x="3771693" y="0"/>
                </a:lnTo>
                <a:quadBezTo>
                  <a:pt x="4005154" y="0"/>
                  <a:pt x="4005154" y="233460"/>
                </a:quadBezTo>
                <a:lnTo>
                  <a:pt x="4005154" y="1634223"/>
                </a:lnTo>
                <a:quadBezTo>
                  <a:pt x="4005154" y="1867683"/>
                  <a:pt x="3771693" y="1867683"/>
                </a:quadBezTo>
                <a:lnTo>
                  <a:pt x="233460" y="1867683"/>
                </a:lnTo>
                <a:quadBezTo>
                  <a:pt x="0" y="1867683"/>
                  <a:pt x="0" y="1634223"/>
                </a:quadBezTo>
                <a:lnTo>
                  <a:pt x="0" y="233460"/>
                </a:lnTo>
                <a:quadBezTo>
                  <a:pt x="0" y="0"/>
                  <a:pt x="233460" y="0"/>
                </a:quadBezTo>
                <a:close/>
              </a:path>
            </a:pathLst>
          </a:custGeom>
          <a:solidFill>
            <a:srgbClr val="9B6047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03600" y="1568644"/>
            <a:ext cx="552398" cy="552398"/>
          </a:xfrm>
          <a:custGeom>
            <a:avLst/>
            <a:gdLst/>
            <a:ahLst/>
            <a:cxnLst/>
            <a:rect l="l" t="t" r="r" b="b"/>
            <a:pathLst>
              <a:path w="552398" h="552398">
                <a:moveTo>
                  <a:pt x="276199" y="0"/>
                </a:moveTo>
                <a:moveTo>
                  <a:pt x="276199" y="0"/>
                </a:moveTo>
                <a:cubicBezTo>
                  <a:pt x="428637" y="0"/>
                  <a:pt x="552398" y="123761"/>
                  <a:pt x="552398" y="276199"/>
                </a:cubicBezTo>
                <a:cubicBezTo>
                  <a:pt x="552398" y="428637"/>
                  <a:pt x="428637" y="552398"/>
                  <a:pt x="276199" y="552398"/>
                </a:cubicBezTo>
                <a:cubicBezTo>
                  <a:pt x="123761" y="552398"/>
                  <a:pt x="0" y="428637"/>
                  <a:pt x="0" y="276199"/>
                </a:cubicBezTo>
                <a:cubicBezTo>
                  <a:pt x="0" y="123761"/>
                  <a:pt x="123761" y="0"/>
                  <a:pt x="276199" y="0"/>
                </a:cubic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7" name="Shape 5"/>
          <p:cNvSpPr/>
          <p:nvPr/>
        </p:nvSpPr>
        <p:spPr>
          <a:xfrm>
            <a:off x="504668" y="2957327"/>
            <a:ext cx="4005154" cy="1859343"/>
          </a:xfrm>
          <a:custGeom>
            <a:avLst/>
            <a:gdLst/>
            <a:ahLst/>
            <a:cxnLst/>
            <a:rect l="l" t="t" r="r" b="b"/>
            <a:pathLst>
              <a:path w="4005154" h="1859343">
                <a:moveTo>
                  <a:pt x="232418" y="0"/>
                </a:moveTo>
                <a:moveTo>
                  <a:pt x="232418" y="0"/>
                </a:moveTo>
                <a:lnTo>
                  <a:pt x="3772736" y="0"/>
                </a:lnTo>
                <a:quadBezTo>
                  <a:pt x="4005154" y="0"/>
                  <a:pt x="4005154" y="232418"/>
                </a:quadBezTo>
                <a:lnTo>
                  <a:pt x="4005154" y="1626925"/>
                </a:lnTo>
                <a:quadBezTo>
                  <a:pt x="4005154" y="1859343"/>
                  <a:pt x="3772736" y="1859343"/>
                </a:quadBezTo>
                <a:lnTo>
                  <a:pt x="232418" y="1859343"/>
                </a:lnTo>
                <a:quadBezTo>
                  <a:pt x="0" y="1859343"/>
                  <a:pt x="0" y="1626925"/>
                </a:quadBezTo>
                <a:lnTo>
                  <a:pt x="0" y="232418"/>
                </a:lnTo>
                <a:quadBezTo>
                  <a:pt x="0" y="0"/>
                  <a:pt x="232418" y="0"/>
                </a:quadBezTo>
                <a:close/>
              </a:path>
            </a:pathLst>
          </a:custGeom>
          <a:solidFill>
            <a:srgbClr val="9B6047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3670" y="3610870"/>
            <a:ext cx="552257" cy="552257"/>
          </a:xfrm>
          <a:custGeom>
            <a:avLst/>
            <a:gdLst/>
            <a:ahLst/>
            <a:cxnLst/>
            <a:rect l="l" t="t" r="r" b="b"/>
            <a:pathLst>
              <a:path w="552257" h="552257">
                <a:moveTo>
                  <a:pt x="276128" y="0"/>
                </a:moveTo>
                <a:moveTo>
                  <a:pt x="276128" y="0"/>
                </a:moveTo>
                <a:cubicBezTo>
                  <a:pt x="428528" y="0"/>
                  <a:pt x="552257" y="123729"/>
                  <a:pt x="552257" y="276128"/>
                </a:cubicBezTo>
                <a:cubicBezTo>
                  <a:pt x="552257" y="428528"/>
                  <a:pt x="428528" y="552257"/>
                  <a:pt x="276128" y="552257"/>
                </a:cubicBezTo>
                <a:cubicBezTo>
                  <a:pt x="123729" y="552257"/>
                  <a:pt x="0" y="428528"/>
                  <a:pt x="0" y="276128"/>
                </a:cubicBezTo>
                <a:cubicBezTo>
                  <a:pt x="0" y="123729"/>
                  <a:pt x="123729" y="0"/>
                  <a:pt x="276128" y="0"/>
                </a:cubic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9" name="Shape 7"/>
          <p:cNvSpPr/>
          <p:nvPr/>
        </p:nvSpPr>
        <p:spPr>
          <a:xfrm>
            <a:off x="4624780" y="1568644"/>
            <a:ext cx="552398" cy="552398"/>
          </a:xfrm>
          <a:custGeom>
            <a:avLst/>
            <a:gdLst/>
            <a:ahLst/>
            <a:cxnLst/>
            <a:rect l="l" t="t" r="r" b="b"/>
            <a:pathLst>
              <a:path w="552398" h="552398">
                <a:moveTo>
                  <a:pt x="276199" y="0"/>
                </a:moveTo>
                <a:moveTo>
                  <a:pt x="276199" y="0"/>
                </a:moveTo>
                <a:cubicBezTo>
                  <a:pt x="428637" y="0"/>
                  <a:pt x="552398" y="123761"/>
                  <a:pt x="552398" y="276199"/>
                </a:cubicBezTo>
                <a:cubicBezTo>
                  <a:pt x="552398" y="428637"/>
                  <a:pt x="428637" y="552398"/>
                  <a:pt x="276199" y="552398"/>
                </a:cubicBezTo>
                <a:cubicBezTo>
                  <a:pt x="123761" y="552398"/>
                  <a:pt x="0" y="428637"/>
                  <a:pt x="0" y="276199"/>
                </a:cubicBezTo>
                <a:cubicBezTo>
                  <a:pt x="0" y="123761"/>
                  <a:pt x="123761" y="0"/>
                  <a:pt x="276199" y="0"/>
                </a:cubic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10" name="Shape 8"/>
          <p:cNvSpPr/>
          <p:nvPr/>
        </p:nvSpPr>
        <p:spPr>
          <a:xfrm>
            <a:off x="4624780" y="3610800"/>
            <a:ext cx="552398" cy="552398"/>
          </a:xfrm>
          <a:custGeom>
            <a:avLst/>
            <a:gdLst/>
            <a:ahLst/>
            <a:cxnLst/>
            <a:rect l="l" t="t" r="r" b="b"/>
            <a:pathLst>
              <a:path w="552398" h="552398">
                <a:moveTo>
                  <a:pt x="276199" y="0"/>
                </a:moveTo>
                <a:moveTo>
                  <a:pt x="276199" y="0"/>
                </a:moveTo>
                <a:cubicBezTo>
                  <a:pt x="428637" y="0"/>
                  <a:pt x="552398" y="123761"/>
                  <a:pt x="552398" y="276199"/>
                </a:cubicBezTo>
                <a:cubicBezTo>
                  <a:pt x="552398" y="428637"/>
                  <a:pt x="428637" y="552398"/>
                  <a:pt x="276199" y="552398"/>
                </a:cubicBezTo>
                <a:cubicBezTo>
                  <a:pt x="123761" y="552398"/>
                  <a:pt x="0" y="428637"/>
                  <a:pt x="0" y="276199"/>
                </a:cubicBezTo>
                <a:cubicBezTo>
                  <a:pt x="0" y="123761"/>
                  <a:pt x="123761" y="0"/>
                  <a:pt x="276199" y="0"/>
                </a:cubic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11" name="Text 9"/>
          <p:cNvSpPr/>
          <p:nvPr/>
        </p:nvSpPr>
        <p:spPr>
          <a:xfrm>
            <a:off x="897522" y="1012569"/>
            <a:ext cx="3567344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Role in Architecture.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897522" y="1514842"/>
            <a:ext cx="330790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Handles business logic, Groq API orchestration, and REST endpoints between frontend and data tier.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5212038" y="1012617"/>
            <a:ext cx="3567344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Technologies.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5212038" y="1514842"/>
            <a:ext cx="330790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Node.js, Express and TypeScript for typed, scalable server-side application and APIs.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897522" y="3051319"/>
            <a:ext cx="3567344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Patterns.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897522" y="3560030"/>
            <a:ext cx="330790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RESTful endpoints with HTTPS, async processing, caching for performance and reliability.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5212038" y="3052400"/>
            <a:ext cx="3567344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Error Handling &amp; Validation.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5212038" y="3560030"/>
            <a:ext cx="330790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JSON schema validation and re-prompting to fix inconsistent AI parsing outputs.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266305" y="1569192"/>
            <a:ext cx="626988" cy="5394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4587485" y="1569192"/>
            <a:ext cx="626988" cy="5394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266305" y="3611347"/>
            <a:ext cx="626988" cy="5394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4587485" y="3611347"/>
            <a:ext cx="626988" cy="5394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73" y="176386"/>
            <a:ext cx="8240836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Tier MongoDB Supabase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262889" y="963275"/>
            <a:ext cx="4259020" cy="1739254"/>
          </a:xfrm>
          <a:custGeom>
            <a:avLst/>
            <a:gdLst/>
            <a:ahLst/>
            <a:cxnLst/>
            <a:rect l="l" t="t" r="r" b="b"/>
            <a:pathLst>
              <a:path w="4259020" h="1739254">
                <a:moveTo>
                  <a:pt x="191848" y="0"/>
                </a:moveTo>
                <a:moveTo>
                  <a:pt x="191848" y="0"/>
                </a:moveTo>
                <a:lnTo>
                  <a:pt x="4067172" y="0"/>
                </a:lnTo>
                <a:quadBezTo>
                  <a:pt x="4259020" y="0"/>
                  <a:pt x="4259020" y="217407"/>
                </a:quadBezTo>
                <a:lnTo>
                  <a:pt x="4259020" y="1521847"/>
                </a:lnTo>
                <a:quadBezTo>
                  <a:pt x="4259020" y="1739254"/>
                  <a:pt x="4067172" y="1739254"/>
                </a:quadBezTo>
                <a:lnTo>
                  <a:pt x="191848" y="1739254"/>
                </a:lnTo>
                <a:quadBezTo>
                  <a:pt x="0" y="1739254"/>
                  <a:pt x="0" y="1521847"/>
                </a:quadBezTo>
                <a:lnTo>
                  <a:pt x="0" y="217407"/>
                </a:lnTo>
                <a:quadBezTo>
                  <a:pt x="0" y="0"/>
                  <a:pt x="191848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19050">
            <a:solidFill>
              <a:srgbClr val="9B604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8100000">
            <a:off x="3951420" y="2256917"/>
            <a:ext cx="539894" cy="3101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62785" y="2826285"/>
            <a:ext cx="4259275" cy="1739189"/>
          </a:xfrm>
          <a:custGeom>
            <a:avLst/>
            <a:gdLst/>
            <a:ahLst/>
            <a:cxnLst/>
            <a:rect l="l" t="t" r="r" b="b"/>
            <a:pathLst>
              <a:path w="4259275" h="1739189">
                <a:moveTo>
                  <a:pt x="217399" y="0"/>
                </a:moveTo>
                <a:moveTo>
                  <a:pt x="217399" y="0"/>
                </a:moveTo>
                <a:lnTo>
                  <a:pt x="4041877" y="0"/>
                </a:lnTo>
                <a:quadBezTo>
                  <a:pt x="4259275" y="0"/>
                  <a:pt x="4259275" y="217399"/>
                </a:quadBezTo>
                <a:lnTo>
                  <a:pt x="4259275" y="1521790"/>
                </a:lnTo>
                <a:quadBezTo>
                  <a:pt x="4259275" y="1739189"/>
                  <a:pt x="4041877" y="1739189"/>
                </a:quadBezTo>
                <a:lnTo>
                  <a:pt x="217399" y="1739189"/>
                </a:lnTo>
                <a:quadBezTo>
                  <a:pt x="0" y="1739189"/>
                  <a:pt x="0" y="1521790"/>
                </a:quadBezTo>
                <a:lnTo>
                  <a:pt x="0" y="217399"/>
                </a:lnTo>
                <a:quadBezTo>
                  <a:pt x="0" y="0"/>
                  <a:pt x="217399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19050">
            <a:solidFill>
              <a:srgbClr val="CC6B38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rot="-2700000">
            <a:off x="3951420" y="2971744"/>
            <a:ext cx="539894" cy="3101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21940" y="963275"/>
            <a:ext cx="4259020" cy="1739254"/>
          </a:xfrm>
          <a:custGeom>
            <a:avLst/>
            <a:gdLst/>
            <a:ahLst/>
            <a:cxnLst/>
            <a:rect l="l" t="t" r="r" b="b"/>
            <a:pathLst>
              <a:path w="4259020" h="1739254">
                <a:moveTo>
                  <a:pt x="191848" y="0"/>
                </a:moveTo>
                <a:moveTo>
                  <a:pt x="191848" y="0"/>
                </a:moveTo>
                <a:lnTo>
                  <a:pt x="4067172" y="0"/>
                </a:lnTo>
                <a:quadBezTo>
                  <a:pt x="4259020" y="0"/>
                  <a:pt x="4259020" y="217407"/>
                </a:quadBezTo>
                <a:lnTo>
                  <a:pt x="4259020" y="1521847"/>
                </a:lnTo>
                <a:quadBezTo>
                  <a:pt x="4259020" y="1739254"/>
                  <a:pt x="4067172" y="1739254"/>
                </a:quadBezTo>
                <a:lnTo>
                  <a:pt x="191848" y="1739254"/>
                </a:lnTo>
                <a:quadBezTo>
                  <a:pt x="0" y="1739254"/>
                  <a:pt x="0" y="1521847"/>
                </a:quadBezTo>
                <a:lnTo>
                  <a:pt x="0" y="217407"/>
                </a:lnTo>
                <a:quadBezTo>
                  <a:pt x="0" y="0"/>
                  <a:pt x="191848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19050">
            <a:solidFill>
              <a:srgbClr val="CC6B3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4652534" y="2256917"/>
            <a:ext cx="539894" cy="3101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621940" y="2826410"/>
            <a:ext cx="4259275" cy="1739189"/>
          </a:xfrm>
          <a:custGeom>
            <a:avLst/>
            <a:gdLst/>
            <a:ahLst/>
            <a:cxnLst/>
            <a:rect l="l" t="t" r="r" b="b"/>
            <a:pathLst>
              <a:path w="4259275" h="1739189">
                <a:moveTo>
                  <a:pt x="217399" y="0"/>
                </a:moveTo>
                <a:moveTo>
                  <a:pt x="217399" y="0"/>
                </a:moveTo>
                <a:lnTo>
                  <a:pt x="4041877" y="0"/>
                </a:lnTo>
                <a:quadBezTo>
                  <a:pt x="4259275" y="0"/>
                  <a:pt x="4259275" y="217399"/>
                </a:quadBezTo>
                <a:lnTo>
                  <a:pt x="4259275" y="1521790"/>
                </a:lnTo>
                <a:quadBezTo>
                  <a:pt x="4259275" y="1739189"/>
                  <a:pt x="4041877" y="1739189"/>
                </a:quadBezTo>
                <a:lnTo>
                  <a:pt x="217399" y="1739189"/>
                </a:lnTo>
                <a:quadBezTo>
                  <a:pt x="0" y="1739189"/>
                  <a:pt x="0" y="1521790"/>
                </a:quadBezTo>
                <a:lnTo>
                  <a:pt x="0" y="217399"/>
                </a:lnTo>
                <a:quadBezTo>
                  <a:pt x="0" y="0"/>
                  <a:pt x="217399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19050">
            <a:solidFill>
              <a:srgbClr val="9B6047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 rot="-8100000">
            <a:off x="4652534" y="2971744"/>
            <a:ext cx="539894" cy="310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3381" y="1112883"/>
            <a:ext cx="3930488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MongoDB Resume Storage.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413381" y="1588683"/>
            <a:ext cx="3578208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Stores parsed resume JSON and original files for ranking and dashboard retrieval.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413381" y="2962234"/>
            <a:ext cx="3709179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Supabase Auth &amp; Metadata.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413381" y="3410291"/>
            <a:ext cx="3578208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Manages user auth, session data, and resume metadata for secure access.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4895382" y="1112883"/>
            <a:ext cx="3776007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Hybrid DB Architecture.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5186439" y="1588683"/>
            <a:ext cx="3484949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Combines MongoDB and Supabase to separate storage from authentication/metadata.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5038512" y="2962234"/>
            <a:ext cx="363287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Schema Validation Layer.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5223022" y="3410291"/>
            <a:ext cx="3484949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Enforces structured JSON for consistent parsing and AI re-prompting.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73" y="176386"/>
            <a:ext cx="8240836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 REST API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33" y="975354"/>
            <a:ext cx="8310536" cy="7598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6119" y="1135629"/>
            <a:ext cx="2746770" cy="439271"/>
          </a:xfrm>
          <a:custGeom>
            <a:avLst/>
            <a:gdLst/>
            <a:ahLst/>
            <a:cxnLst/>
            <a:rect l="l" t="t" r="r" b="b"/>
            <a:pathLst>
              <a:path w="2746770" h="439271">
                <a:moveTo>
                  <a:pt x="236350" y="0"/>
                </a:moveTo>
                <a:moveTo>
                  <a:pt x="236350" y="0"/>
                </a:moveTo>
                <a:lnTo>
                  <a:pt x="2510420" y="0"/>
                </a:lnTo>
                <a:quadBezTo>
                  <a:pt x="2746770" y="0"/>
                  <a:pt x="2746770" y="219636"/>
                </a:quadBezTo>
                <a:lnTo>
                  <a:pt x="2746770" y="219636"/>
                </a:lnTo>
                <a:quadBezTo>
                  <a:pt x="2746770" y="439271"/>
                  <a:pt x="2510420" y="439271"/>
                </a:quadBezTo>
                <a:lnTo>
                  <a:pt x="236350" y="439271"/>
                </a:lnTo>
                <a:quadBezTo>
                  <a:pt x="0" y="439271"/>
                  <a:pt x="0" y="219636"/>
                </a:quadBezTo>
                <a:lnTo>
                  <a:pt x="0" y="219636"/>
                </a:lnTo>
                <a:quadBezTo>
                  <a:pt x="0" y="0"/>
                  <a:pt x="236350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33" y="1919994"/>
            <a:ext cx="7871265" cy="7598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16119" y="2080269"/>
            <a:ext cx="2746770" cy="439271"/>
          </a:xfrm>
          <a:custGeom>
            <a:avLst/>
            <a:gdLst/>
            <a:ahLst/>
            <a:cxnLst/>
            <a:rect l="l" t="t" r="r" b="b"/>
            <a:pathLst>
              <a:path w="2746770" h="439271">
                <a:moveTo>
                  <a:pt x="236350" y="0"/>
                </a:moveTo>
                <a:moveTo>
                  <a:pt x="236350" y="0"/>
                </a:moveTo>
                <a:lnTo>
                  <a:pt x="2510420" y="0"/>
                </a:lnTo>
                <a:quadBezTo>
                  <a:pt x="2746770" y="0"/>
                  <a:pt x="2746770" y="219636"/>
                </a:quadBezTo>
                <a:lnTo>
                  <a:pt x="2746770" y="219636"/>
                </a:lnTo>
                <a:quadBezTo>
                  <a:pt x="2746770" y="439271"/>
                  <a:pt x="2510420" y="439271"/>
                </a:quadBezTo>
                <a:lnTo>
                  <a:pt x="236350" y="439271"/>
                </a:lnTo>
                <a:quadBezTo>
                  <a:pt x="0" y="439271"/>
                  <a:pt x="0" y="219636"/>
                </a:quadBezTo>
                <a:lnTo>
                  <a:pt x="0" y="219636"/>
                </a:lnTo>
                <a:quadBezTo>
                  <a:pt x="0" y="0"/>
                  <a:pt x="236350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33" y="2864634"/>
            <a:ext cx="7408249" cy="7598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16119" y="3024908"/>
            <a:ext cx="2746770" cy="439271"/>
          </a:xfrm>
          <a:custGeom>
            <a:avLst/>
            <a:gdLst/>
            <a:ahLst/>
            <a:cxnLst/>
            <a:rect l="l" t="t" r="r" b="b"/>
            <a:pathLst>
              <a:path w="2746770" h="439271">
                <a:moveTo>
                  <a:pt x="236350" y="0"/>
                </a:moveTo>
                <a:moveTo>
                  <a:pt x="236350" y="0"/>
                </a:moveTo>
                <a:lnTo>
                  <a:pt x="2510420" y="0"/>
                </a:lnTo>
                <a:quadBezTo>
                  <a:pt x="2746770" y="0"/>
                  <a:pt x="2746770" y="219636"/>
                </a:quadBezTo>
                <a:lnTo>
                  <a:pt x="2746770" y="219636"/>
                </a:lnTo>
                <a:quadBezTo>
                  <a:pt x="2746770" y="439271"/>
                  <a:pt x="2510420" y="439271"/>
                </a:quadBezTo>
                <a:lnTo>
                  <a:pt x="236350" y="439271"/>
                </a:lnTo>
                <a:quadBezTo>
                  <a:pt x="0" y="439271"/>
                  <a:pt x="0" y="219636"/>
                </a:quadBezTo>
                <a:lnTo>
                  <a:pt x="0" y="219636"/>
                </a:lnTo>
                <a:quadBezTo>
                  <a:pt x="0" y="0"/>
                  <a:pt x="236350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233" y="3809274"/>
            <a:ext cx="6957106" cy="75982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16119" y="3969548"/>
            <a:ext cx="2746770" cy="439271"/>
          </a:xfrm>
          <a:custGeom>
            <a:avLst/>
            <a:gdLst/>
            <a:ahLst/>
            <a:cxnLst/>
            <a:rect l="l" t="t" r="r" b="b"/>
            <a:pathLst>
              <a:path w="2746770" h="439271">
                <a:moveTo>
                  <a:pt x="236350" y="0"/>
                </a:moveTo>
                <a:moveTo>
                  <a:pt x="236350" y="0"/>
                </a:moveTo>
                <a:lnTo>
                  <a:pt x="2510420" y="0"/>
                </a:lnTo>
                <a:quadBezTo>
                  <a:pt x="2746770" y="0"/>
                  <a:pt x="2746770" y="219636"/>
                </a:quadBezTo>
                <a:lnTo>
                  <a:pt x="2746770" y="219636"/>
                </a:lnTo>
                <a:quadBezTo>
                  <a:pt x="2746770" y="439271"/>
                  <a:pt x="2510420" y="439271"/>
                </a:quadBezTo>
                <a:lnTo>
                  <a:pt x="236350" y="439271"/>
                </a:lnTo>
                <a:quadBezTo>
                  <a:pt x="0" y="439271"/>
                  <a:pt x="0" y="219636"/>
                </a:quadBezTo>
                <a:lnTo>
                  <a:pt x="0" y="219636"/>
                </a:lnTo>
                <a:quadBezTo>
                  <a:pt x="0" y="0"/>
                  <a:pt x="236350" y="0"/>
                </a:quadBezTo>
                <a:close/>
              </a:path>
            </a:pathLst>
          </a:custGeom>
          <a:solidFill>
            <a:srgbClr val="9B6047"/>
          </a:solidFill>
          <a:ln/>
        </p:spPr>
      </p:sp>
      <p:sp>
        <p:nvSpPr>
          <p:cNvPr id="11" name="Text 5"/>
          <p:cNvSpPr/>
          <p:nvPr/>
        </p:nvSpPr>
        <p:spPr>
          <a:xfrm>
            <a:off x="473529" y="1135629"/>
            <a:ext cx="2689360" cy="43927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Purpose.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3274579" y="1034943"/>
            <a:ext cx="5032376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Connects React frontend to Node/Express backend for resume upload and scoring.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473529" y="2080269"/>
            <a:ext cx="2689360" cy="43927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Endpoints.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3274579" y="1979583"/>
            <a:ext cx="4581275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Upload, auth, parse, score, and storage endpoints for PDF/DOCX resumes.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473529" y="3050410"/>
            <a:ext cx="2689360" cy="4137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Authentication.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3274579" y="2924223"/>
            <a:ext cx="4107039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Supabase Auth secures user sessions and protects API access.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473529" y="3969548"/>
            <a:ext cx="2689360" cy="43927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Validation.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3274579" y="3868863"/>
            <a:ext cx="3852572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Structured JSON schema validates AI output before storage.</a:t>
            </a:r>
            <a:endParaRPr lang="en-US" sz="144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7165" y="2817537"/>
            <a:ext cx="1645602" cy="18513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73" y="176386"/>
            <a:ext cx="8240836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Async Processing Caching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431928" y="999968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9B6047">
              <a:alpha val="9020"/>
            </a:srgbClr>
          </a:solidFill>
          <a:ln w="9525">
            <a:solidFill>
              <a:srgbClr val="9B6047">
                <a:alpha val="43137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31" y="1152829"/>
            <a:ext cx="1990685" cy="5329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1248" y="1060395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B6047"/>
            </a:solidFill>
            <a:prstDash val="solid"/>
            <a:headEnd type="none"/>
            <a:tailEnd type="arrow"/>
          </a:ln>
        </p:spPr>
      </p:sp>
      <p:sp>
        <p:nvSpPr>
          <p:cNvPr id="6" name="Shape 3"/>
          <p:cNvSpPr/>
          <p:nvPr/>
        </p:nvSpPr>
        <p:spPr>
          <a:xfrm>
            <a:off x="619036" y="1838647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9B604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68574" y="990824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8" name="Shape 5"/>
          <p:cNvSpPr/>
          <p:nvPr/>
        </p:nvSpPr>
        <p:spPr>
          <a:xfrm>
            <a:off x="407227" y="1930712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9B6047">
              <a:alpha val="9020"/>
            </a:srgbClr>
          </a:solidFill>
          <a:ln w="9525">
            <a:solidFill>
              <a:srgbClr val="9B6047">
                <a:alpha val="43137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30" y="2083573"/>
            <a:ext cx="1990685" cy="53295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6547" y="1991139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C6B38"/>
            </a:solidFill>
            <a:prstDash val="solid"/>
            <a:headEnd type="none"/>
            <a:tailEnd type="arrow"/>
          </a:ln>
        </p:spPr>
      </p:sp>
      <p:sp>
        <p:nvSpPr>
          <p:cNvPr id="11" name="Shape 7"/>
          <p:cNvSpPr/>
          <p:nvPr/>
        </p:nvSpPr>
        <p:spPr>
          <a:xfrm>
            <a:off x="594335" y="2769392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CC6B38"/>
            </a:solidFill>
            <a:prstDash val="solid"/>
            <a:headEnd type="none"/>
            <a:tailEnd type="none"/>
          </a:ln>
        </p:spPr>
      </p:sp>
      <p:sp>
        <p:nvSpPr>
          <p:cNvPr id="12" name="Text 8"/>
          <p:cNvSpPr/>
          <p:nvPr/>
        </p:nvSpPr>
        <p:spPr>
          <a:xfrm>
            <a:off x="7643873" y="1921568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CC6B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3" name="Shape 9"/>
          <p:cNvSpPr/>
          <p:nvPr/>
        </p:nvSpPr>
        <p:spPr>
          <a:xfrm>
            <a:off x="407227" y="2850413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9B6047">
              <a:alpha val="9020"/>
            </a:srgbClr>
          </a:solidFill>
          <a:ln w="9525">
            <a:solidFill>
              <a:srgbClr val="9B6047">
                <a:alpha val="43137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030" y="3003274"/>
            <a:ext cx="1990685" cy="532957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6547" y="2910840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B6047"/>
            </a:solidFill>
            <a:prstDash val="solid"/>
            <a:headEnd type="none"/>
            <a:tailEnd type="arrow"/>
          </a:ln>
        </p:spPr>
      </p:sp>
      <p:sp>
        <p:nvSpPr>
          <p:cNvPr id="16" name="Shape 11"/>
          <p:cNvSpPr/>
          <p:nvPr/>
        </p:nvSpPr>
        <p:spPr>
          <a:xfrm>
            <a:off x="594335" y="3689092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9B6047"/>
            </a:solidFill>
            <a:prstDash val="solid"/>
            <a:headEnd type="none"/>
            <a:tailEnd type="none"/>
          </a:ln>
        </p:spPr>
      </p:sp>
      <p:sp>
        <p:nvSpPr>
          <p:cNvPr id="17" name="Text 12"/>
          <p:cNvSpPr/>
          <p:nvPr/>
        </p:nvSpPr>
        <p:spPr>
          <a:xfrm>
            <a:off x="7643873" y="2841269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8" name="Shape 13"/>
          <p:cNvSpPr/>
          <p:nvPr/>
        </p:nvSpPr>
        <p:spPr>
          <a:xfrm>
            <a:off x="382526" y="3778065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9B6047">
              <a:alpha val="9020"/>
            </a:srgbClr>
          </a:solidFill>
          <a:ln w="9525">
            <a:solidFill>
              <a:srgbClr val="9B6047">
                <a:alpha val="43137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29" y="3930926"/>
            <a:ext cx="1990685" cy="53295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61846" y="3838492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C6B38"/>
            </a:solidFill>
            <a:prstDash val="solid"/>
            <a:headEnd type="none"/>
            <a:tailEnd type="arrow"/>
          </a:ln>
        </p:spPr>
      </p:sp>
      <p:sp>
        <p:nvSpPr>
          <p:cNvPr id="21" name="Shape 15"/>
          <p:cNvSpPr/>
          <p:nvPr/>
        </p:nvSpPr>
        <p:spPr>
          <a:xfrm>
            <a:off x="569634" y="4616745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CC6B38"/>
            </a:solidFill>
            <a:prstDash val="solid"/>
            <a:headEnd type="none"/>
            <a:tailEnd type="none"/>
          </a:ln>
        </p:spPr>
      </p:sp>
      <p:sp>
        <p:nvSpPr>
          <p:cNvPr id="22" name="Text 16"/>
          <p:cNvSpPr/>
          <p:nvPr/>
        </p:nvSpPr>
        <p:spPr>
          <a:xfrm>
            <a:off x="7619172" y="3768921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CC6B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23" name="Text 17"/>
          <p:cNvSpPr/>
          <p:nvPr/>
        </p:nvSpPr>
        <p:spPr>
          <a:xfrm>
            <a:off x="541731" y="1152829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Bottleneck</a:t>
            </a:r>
            <a:endParaRPr lang="en-US" sz="1440" dirty="0"/>
          </a:p>
        </p:txBody>
      </p:sp>
      <p:sp>
        <p:nvSpPr>
          <p:cNvPr id="24" name="Text 18"/>
          <p:cNvSpPr/>
          <p:nvPr/>
        </p:nvSpPr>
        <p:spPr>
          <a:xfrm>
            <a:off x="2576224" y="1117556"/>
            <a:ext cx="525147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External Groq AI calls caused high latency during resume parsing and scoring.</a:t>
            </a:r>
            <a:endParaRPr lang="en-US" sz="1440" dirty="0"/>
          </a:p>
        </p:txBody>
      </p:sp>
      <p:sp>
        <p:nvSpPr>
          <p:cNvPr id="25" name="Text 19"/>
          <p:cNvSpPr/>
          <p:nvPr/>
        </p:nvSpPr>
        <p:spPr>
          <a:xfrm>
            <a:off x="517030" y="2083573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Async Processing</a:t>
            </a:r>
            <a:endParaRPr lang="en-US" sz="1440" dirty="0"/>
          </a:p>
        </p:txBody>
      </p:sp>
      <p:sp>
        <p:nvSpPr>
          <p:cNvPr id="26" name="Text 20"/>
          <p:cNvSpPr/>
          <p:nvPr/>
        </p:nvSpPr>
        <p:spPr>
          <a:xfrm>
            <a:off x="2551523" y="2048300"/>
            <a:ext cx="525147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Offload parsing to asynchronous background tasks to avoid blocking requests.</a:t>
            </a:r>
            <a:endParaRPr lang="en-US" sz="1440" dirty="0"/>
          </a:p>
        </p:txBody>
      </p:sp>
      <p:sp>
        <p:nvSpPr>
          <p:cNvPr id="27" name="Text 21"/>
          <p:cNvSpPr/>
          <p:nvPr/>
        </p:nvSpPr>
        <p:spPr>
          <a:xfrm>
            <a:off x="517030" y="3003274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Caching Common Resumes</a:t>
            </a:r>
            <a:endParaRPr lang="en-US" sz="1440" dirty="0"/>
          </a:p>
        </p:txBody>
      </p:sp>
      <p:sp>
        <p:nvSpPr>
          <p:cNvPr id="28" name="Text 22"/>
          <p:cNvSpPr/>
          <p:nvPr/>
        </p:nvSpPr>
        <p:spPr>
          <a:xfrm>
            <a:off x="2551523" y="2968001"/>
            <a:ext cx="525147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 parsed results for repeated resumes to return instant responses.</a:t>
            </a:r>
            <a:endParaRPr lang="en-US" sz="1440" dirty="0"/>
          </a:p>
        </p:txBody>
      </p:sp>
      <p:sp>
        <p:nvSpPr>
          <p:cNvPr id="29" name="Text 23"/>
          <p:cNvSpPr/>
          <p:nvPr/>
        </p:nvSpPr>
        <p:spPr>
          <a:xfrm>
            <a:off x="492329" y="3930926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Schema Validation</a:t>
            </a:r>
            <a:endParaRPr lang="en-US" sz="1440" dirty="0"/>
          </a:p>
        </p:txBody>
      </p:sp>
      <p:sp>
        <p:nvSpPr>
          <p:cNvPr id="30" name="Text 24"/>
          <p:cNvSpPr/>
          <p:nvPr/>
        </p:nvSpPr>
        <p:spPr>
          <a:xfrm>
            <a:off x="2526821" y="3895653"/>
            <a:ext cx="525147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Enforce JSON schema to validate AI output and trigger re-prompts when mismatched.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73" y="176386"/>
            <a:ext cx="8240836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JSON Schema Validation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65" y="981293"/>
            <a:ext cx="4215220" cy="173035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65" y="2174571"/>
            <a:ext cx="4215220" cy="533239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83" y="1042521"/>
            <a:ext cx="450541" cy="185517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579962" y="1042521"/>
            <a:ext cx="450541" cy="185517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9291" y="981293"/>
            <a:ext cx="4215220" cy="1730356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9291" y="2174571"/>
            <a:ext cx="4215220" cy="533239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9209" y="1042521"/>
            <a:ext cx="450541" cy="185517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9">
            <a:alphaModFix amt="40000"/>
          </a:blip>
          <a:stretch>
            <a:fillRect/>
          </a:stretch>
        </p:blipFill>
        <p:spPr>
          <a:xfrm>
            <a:off x="4959988" y="1042521"/>
            <a:ext cx="450541" cy="185517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265" y="2950644"/>
            <a:ext cx="4215220" cy="1730356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9265" y="4143921"/>
            <a:ext cx="4215220" cy="533239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9183" y="3011872"/>
            <a:ext cx="450541" cy="185517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>
            <a:off x="579962" y="3011872"/>
            <a:ext cx="450541" cy="185517"/>
          </a:xfrm>
          <a:prstGeom prst="rect">
            <a:avLst/>
          </a:prstGeom>
        </p:spPr>
      </p:pic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49291" y="2950644"/>
            <a:ext cx="4215220" cy="1730356"/>
          </a:xfrm>
          <a:prstGeom prst="rect">
            <a:avLst/>
          </a:prstGeom>
        </p:spPr>
      </p:pic>
      <p:pic>
        <p:nvPicPr>
          <p:cNvPr id="16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49291" y="4143921"/>
            <a:ext cx="4215220" cy="533239"/>
          </a:xfrm>
          <a:prstGeom prst="rect">
            <a:avLst/>
          </a:prstGeom>
        </p:spPr>
      </p:pic>
      <p:pic>
        <p:nvPicPr>
          <p:cNvPr id="17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89209" y="3011872"/>
            <a:ext cx="450541" cy="185517"/>
          </a:xfrm>
          <a:prstGeom prst="rect">
            <a:avLst/>
          </a:prstGeom>
        </p:spPr>
      </p:pic>
      <p:pic>
        <p:nvPicPr>
          <p:cNvPr id="18" name="Image 15" descr="preencoded.png">    </p:cNvPr>
          <p:cNvPicPr>
            <a:picLocks noChangeAspect="1"/>
          </p:cNvPicPr>
          <p:nvPr/>
        </p:nvPicPr>
        <p:blipFill>
          <a:blip r:embed="rId17">
            <a:alphaModFix amt="40000"/>
          </a:blip>
          <a:stretch>
            <a:fillRect/>
          </a:stretch>
        </p:blipFill>
        <p:spPr>
          <a:xfrm>
            <a:off x="4959988" y="3011872"/>
            <a:ext cx="450541" cy="185517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356822" y="2174571"/>
            <a:ext cx="4040107" cy="53707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Schema Purpose</a:t>
            </a:r>
            <a:endParaRPr lang="en-US" sz="1440" dirty="0"/>
          </a:p>
        </p:txBody>
      </p:sp>
      <p:sp>
        <p:nvSpPr>
          <p:cNvPr id="20" name="Text 2"/>
          <p:cNvSpPr/>
          <p:nvPr/>
        </p:nvSpPr>
        <p:spPr>
          <a:xfrm>
            <a:off x="361935" y="1197062"/>
            <a:ext cx="402988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Ensure consistent AI resume parsing and enforce structured JSON output for downstream processing.</a:t>
            </a:r>
            <a:endParaRPr lang="en-US" sz="1440" dirty="0"/>
          </a:p>
        </p:txBody>
      </p:sp>
      <p:sp>
        <p:nvSpPr>
          <p:cNvPr id="21" name="Text 3"/>
          <p:cNvSpPr/>
          <p:nvPr/>
        </p:nvSpPr>
        <p:spPr>
          <a:xfrm>
            <a:off x="4736848" y="2174571"/>
            <a:ext cx="4040107" cy="53707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Fields</a:t>
            </a:r>
            <a:endParaRPr lang="en-US" sz="1440" dirty="0"/>
          </a:p>
        </p:txBody>
      </p:sp>
      <p:sp>
        <p:nvSpPr>
          <p:cNvPr id="22" name="Text 4"/>
          <p:cNvSpPr/>
          <p:nvPr/>
        </p:nvSpPr>
        <p:spPr>
          <a:xfrm>
            <a:off x="4741961" y="1197062"/>
            <a:ext cx="402988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Required fields: name, contact, skills, experience, education, score, redaction flags.</a:t>
            </a:r>
            <a:endParaRPr lang="en-US" sz="1440" dirty="0"/>
          </a:p>
        </p:txBody>
      </p:sp>
      <p:sp>
        <p:nvSpPr>
          <p:cNvPr id="23" name="Text 5"/>
          <p:cNvSpPr/>
          <p:nvPr/>
        </p:nvSpPr>
        <p:spPr>
          <a:xfrm>
            <a:off x="356822" y="4143921"/>
            <a:ext cx="4040107" cy="53707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Validation Workflow</a:t>
            </a:r>
            <a:endParaRPr lang="en-US" sz="1440" dirty="0"/>
          </a:p>
        </p:txBody>
      </p:sp>
      <p:sp>
        <p:nvSpPr>
          <p:cNvPr id="24" name="Text 6"/>
          <p:cNvSpPr/>
          <p:nvPr/>
        </p:nvSpPr>
        <p:spPr>
          <a:xfrm>
            <a:off x="361935" y="3166413"/>
            <a:ext cx="402988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 AI output; on schema mismatch, trigger structured re-prompt and retry parsing.</a:t>
            </a:r>
            <a:endParaRPr lang="en-US" sz="1440" dirty="0"/>
          </a:p>
        </p:txBody>
      </p:sp>
      <p:sp>
        <p:nvSpPr>
          <p:cNvPr id="25" name="Text 7"/>
          <p:cNvSpPr/>
          <p:nvPr/>
        </p:nvSpPr>
        <p:spPr>
          <a:xfrm>
            <a:off x="4736848" y="4143921"/>
            <a:ext cx="4040107" cy="53707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Re-prompt Strategy</a:t>
            </a:r>
            <a:endParaRPr lang="en-US" sz="1440" dirty="0"/>
          </a:p>
        </p:txBody>
      </p:sp>
      <p:sp>
        <p:nvSpPr>
          <p:cNvPr id="26" name="Text 8"/>
          <p:cNvSpPr/>
          <p:nvPr/>
        </p:nvSpPr>
        <p:spPr>
          <a:xfrm>
            <a:off x="4741961" y="3166413"/>
            <a:ext cx="402988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targeted prompts referencing schema errors to guide Groq AI corrections.</a:t>
            </a:r>
            <a:endParaRPr lang="en-US" sz="14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73" y="176386"/>
            <a:ext cx="8240836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Results &amp; Recommendations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262889" y="963275"/>
            <a:ext cx="4259020" cy="1739254"/>
          </a:xfrm>
          <a:custGeom>
            <a:avLst/>
            <a:gdLst/>
            <a:ahLst/>
            <a:cxnLst/>
            <a:rect l="l" t="t" r="r" b="b"/>
            <a:pathLst>
              <a:path w="4259020" h="1739254">
                <a:moveTo>
                  <a:pt x="191848" y="0"/>
                </a:moveTo>
                <a:moveTo>
                  <a:pt x="191848" y="0"/>
                </a:moveTo>
                <a:lnTo>
                  <a:pt x="4067172" y="0"/>
                </a:lnTo>
                <a:quadBezTo>
                  <a:pt x="4259020" y="0"/>
                  <a:pt x="4259020" y="217407"/>
                </a:quadBezTo>
                <a:lnTo>
                  <a:pt x="4259020" y="1521847"/>
                </a:lnTo>
                <a:quadBezTo>
                  <a:pt x="4259020" y="1739254"/>
                  <a:pt x="4067172" y="1739254"/>
                </a:quadBezTo>
                <a:lnTo>
                  <a:pt x="191848" y="1739254"/>
                </a:lnTo>
                <a:quadBezTo>
                  <a:pt x="0" y="1739254"/>
                  <a:pt x="0" y="1521847"/>
                </a:quadBezTo>
                <a:lnTo>
                  <a:pt x="0" y="217407"/>
                </a:lnTo>
                <a:quadBezTo>
                  <a:pt x="0" y="0"/>
                  <a:pt x="191848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19050">
            <a:solidFill>
              <a:srgbClr val="9B604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8100000">
            <a:off x="3951420" y="2256917"/>
            <a:ext cx="539894" cy="3101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62785" y="2826285"/>
            <a:ext cx="4259275" cy="1739189"/>
          </a:xfrm>
          <a:custGeom>
            <a:avLst/>
            <a:gdLst/>
            <a:ahLst/>
            <a:cxnLst/>
            <a:rect l="l" t="t" r="r" b="b"/>
            <a:pathLst>
              <a:path w="4259275" h="1739189">
                <a:moveTo>
                  <a:pt x="217399" y="0"/>
                </a:moveTo>
                <a:moveTo>
                  <a:pt x="217399" y="0"/>
                </a:moveTo>
                <a:lnTo>
                  <a:pt x="4041877" y="0"/>
                </a:lnTo>
                <a:quadBezTo>
                  <a:pt x="4259275" y="0"/>
                  <a:pt x="4259275" y="217399"/>
                </a:quadBezTo>
                <a:lnTo>
                  <a:pt x="4259275" y="1521790"/>
                </a:lnTo>
                <a:quadBezTo>
                  <a:pt x="4259275" y="1739189"/>
                  <a:pt x="4041877" y="1739189"/>
                </a:quadBezTo>
                <a:lnTo>
                  <a:pt x="217399" y="1739189"/>
                </a:lnTo>
                <a:quadBezTo>
                  <a:pt x="0" y="1739189"/>
                  <a:pt x="0" y="1521790"/>
                </a:quadBezTo>
                <a:lnTo>
                  <a:pt x="0" y="217399"/>
                </a:lnTo>
                <a:quadBezTo>
                  <a:pt x="0" y="0"/>
                  <a:pt x="217399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19050">
            <a:solidFill>
              <a:srgbClr val="CC6B38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rot="-2700000">
            <a:off x="3951420" y="2971744"/>
            <a:ext cx="539894" cy="3101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21940" y="963275"/>
            <a:ext cx="4259020" cy="1739254"/>
          </a:xfrm>
          <a:custGeom>
            <a:avLst/>
            <a:gdLst/>
            <a:ahLst/>
            <a:cxnLst/>
            <a:rect l="l" t="t" r="r" b="b"/>
            <a:pathLst>
              <a:path w="4259020" h="1739254">
                <a:moveTo>
                  <a:pt x="191848" y="0"/>
                </a:moveTo>
                <a:moveTo>
                  <a:pt x="191848" y="0"/>
                </a:moveTo>
                <a:lnTo>
                  <a:pt x="4067172" y="0"/>
                </a:lnTo>
                <a:quadBezTo>
                  <a:pt x="4259020" y="0"/>
                  <a:pt x="4259020" y="217407"/>
                </a:quadBezTo>
                <a:lnTo>
                  <a:pt x="4259020" y="1521847"/>
                </a:lnTo>
                <a:quadBezTo>
                  <a:pt x="4259020" y="1739254"/>
                  <a:pt x="4067172" y="1739254"/>
                </a:quadBezTo>
                <a:lnTo>
                  <a:pt x="191848" y="1739254"/>
                </a:lnTo>
                <a:quadBezTo>
                  <a:pt x="0" y="1739254"/>
                  <a:pt x="0" y="1521847"/>
                </a:quadBezTo>
                <a:lnTo>
                  <a:pt x="0" y="217407"/>
                </a:lnTo>
                <a:quadBezTo>
                  <a:pt x="0" y="0"/>
                  <a:pt x="191848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19050">
            <a:solidFill>
              <a:srgbClr val="CC6B3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4652534" y="2256917"/>
            <a:ext cx="539894" cy="3101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621940" y="2826410"/>
            <a:ext cx="4259275" cy="1739189"/>
          </a:xfrm>
          <a:custGeom>
            <a:avLst/>
            <a:gdLst/>
            <a:ahLst/>
            <a:cxnLst/>
            <a:rect l="l" t="t" r="r" b="b"/>
            <a:pathLst>
              <a:path w="4259275" h="1739189">
                <a:moveTo>
                  <a:pt x="217399" y="0"/>
                </a:moveTo>
                <a:moveTo>
                  <a:pt x="217399" y="0"/>
                </a:moveTo>
                <a:lnTo>
                  <a:pt x="4041877" y="0"/>
                </a:lnTo>
                <a:quadBezTo>
                  <a:pt x="4259275" y="0"/>
                  <a:pt x="4259275" y="217399"/>
                </a:quadBezTo>
                <a:lnTo>
                  <a:pt x="4259275" y="1521790"/>
                </a:lnTo>
                <a:quadBezTo>
                  <a:pt x="4259275" y="1739189"/>
                  <a:pt x="4041877" y="1739189"/>
                </a:quadBezTo>
                <a:lnTo>
                  <a:pt x="217399" y="1739189"/>
                </a:lnTo>
                <a:quadBezTo>
                  <a:pt x="0" y="1739189"/>
                  <a:pt x="0" y="1521790"/>
                </a:quadBezTo>
                <a:lnTo>
                  <a:pt x="0" y="217399"/>
                </a:lnTo>
                <a:quadBezTo>
                  <a:pt x="0" y="0"/>
                  <a:pt x="217399" y="0"/>
                </a:quadBezTo>
                <a:close/>
              </a:path>
            </a:pathLst>
          </a:custGeom>
          <a:solidFill>
            <a:srgbClr val="9B6047">
              <a:alpha val="0"/>
            </a:srgbClr>
          </a:solidFill>
          <a:ln w="19050">
            <a:solidFill>
              <a:srgbClr val="9B6047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 rot="-8100000">
            <a:off x="4652534" y="2971744"/>
            <a:ext cx="539894" cy="310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3381" y="1112883"/>
            <a:ext cx="3930488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Results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413381" y="1588683"/>
            <a:ext cx="3578208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Built production-ready AI screener; reduced manual screening time significantly.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413381" y="2962234"/>
            <a:ext cx="3709179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Accuracy &amp; Scoring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413381" y="3410291"/>
            <a:ext cx="3578208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95%+ extraction accuracy; candidates ranked 1–10 with justification.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4895382" y="1112883"/>
            <a:ext cx="3776007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Privacy &amp; Compliance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5186439" y="1588683"/>
            <a:ext cx="3484949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PII redaction to protect candidate contact details.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5038512" y="2962234"/>
            <a:ext cx="363287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9B604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Improvements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5223022" y="3410291"/>
            <a:ext cx="3484949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Async processing and caching reduced external AI latency.</a:t>
            </a:r>
            <a:endParaRPr lang="en-US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4761" y="1618484"/>
            <a:ext cx="4313208" cy="10881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752" b="1" dirty="0">
                <a:solidFill>
                  <a:srgbClr val="EED7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Thanks！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2026-04-25T07:14:48Z</dcterms:created>
  <dcterms:modified xsi:type="dcterms:W3CDTF">2026-04-25T07:14:48Z</dcterms:modified>
</cp:coreProperties>
</file>